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0000"/>
    <a:srgbClr val="733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1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 ram" userId="f35e7e42b41a4aaf" providerId="LiveId" clId="{3661574B-2925-41BA-956A-2F6E797759A6}"/>
    <pc:docChg chg="modSld">
      <pc:chgData name="sai ram" userId="f35e7e42b41a4aaf" providerId="LiveId" clId="{3661574B-2925-41BA-956A-2F6E797759A6}" dt="2026-10-07T05:41:43.911" v="24" actId="1076"/>
      <pc:docMkLst>
        <pc:docMk/>
      </pc:docMkLst>
      <pc:sldChg chg="modSp mod">
        <pc:chgData name="sai ram" userId="f35e7e42b41a4aaf" providerId="LiveId" clId="{3661574B-2925-41BA-956A-2F6E797759A6}" dt="2026-10-07T05:40:40.061" v="20" actId="2711"/>
        <pc:sldMkLst>
          <pc:docMk/>
          <pc:sldMk cId="0" sldId="256"/>
        </pc:sldMkLst>
        <pc:spChg chg="mod">
          <ac:chgData name="sai ram" userId="f35e7e42b41a4aaf" providerId="LiveId" clId="{3661574B-2925-41BA-956A-2F6E797759A6}" dt="2026-10-07T05:40:40.061" v="20" actId="2711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sai ram" userId="f35e7e42b41a4aaf" providerId="LiveId" clId="{3661574B-2925-41BA-956A-2F6E797759A6}" dt="2026-10-07T05:36:08.156" v="3" actId="2711"/>
        <pc:sldMkLst>
          <pc:docMk/>
          <pc:sldMk cId="0" sldId="258"/>
        </pc:sldMkLst>
        <pc:spChg chg="mod">
          <ac:chgData name="sai ram" userId="f35e7e42b41a4aaf" providerId="LiveId" clId="{3661574B-2925-41BA-956A-2F6E797759A6}" dt="2026-10-07T05:36:08.156" v="3" actId="2711"/>
          <ac:spMkLst>
            <pc:docMk/>
            <pc:sldMk cId="0" sldId="258"/>
            <ac:spMk id="6" creationId="{574E4A2B-4C73-2811-F119-851E4C6012C2}"/>
          </ac:spMkLst>
        </pc:spChg>
      </pc:sldChg>
      <pc:sldChg chg="modSp mod">
        <pc:chgData name="sai ram" userId="f35e7e42b41a4aaf" providerId="LiveId" clId="{3661574B-2925-41BA-956A-2F6E797759A6}" dt="2026-10-07T05:41:27.537" v="23" actId="1076"/>
        <pc:sldMkLst>
          <pc:docMk/>
          <pc:sldMk cId="0" sldId="260"/>
        </pc:sldMkLst>
        <pc:spChg chg="mod">
          <ac:chgData name="sai ram" userId="f35e7e42b41a4aaf" providerId="LiveId" clId="{3661574B-2925-41BA-956A-2F6E797759A6}" dt="2026-10-07T05:41:27.537" v="23" actId="1076"/>
          <ac:spMkLst>
            <pc:docMk/>
            <pc:sldMk cId="0" sldId="260"/>
            <ac:spMk id="5" creationId="{BE3CB8E7-CD47-63D5-C2AE-6FC32DC419E1}"/>
          </ac:spMkLst>
        </pc:spChg>
      </pc:sldChg>
      <pc:sldChg chg="modSp mod">
        <pc:chgData name="sai ram" userId="f35e7e42b41a4aaf" providerId="LiveId" clId="{3661574B-2925-41BA-956A-2F6E797759A6}" dt="2026-10-07T05:40:08.689" v="19" actId="2711"/>
        <pc:sldMkLst>
          <pc:docMk/>
          <pc:sldMk cId="0" sldId="262"/>
        </pc:sldMkLst>
        <pc:spChg chg="mod">
          <ac:chgData name="sai ram" userId="f35e7e42b41a4aaf" providerId="LiveId" clId="{3661574B-2925-41BA-956A-2F6E797759A6}" dt="2026-10-07T05:40:08.689" v="19" actId="2711"/>
          <ac:spMkLst>
            <pc:docMk/>
            <pc:sldMk cId="0" sldId="262"/>
            <ac:spMk id="5" creationId="{4F0C4227-EEA5-C4D0-0505-329D50D65159}"/>
          </ac:spMkLst>
        </pc:spChg>
        <pc:spChg chg="mod">
          <ac:chgData name="sai ram" userId="f35e7e42b41a4aaf" providerId="LiveId" clId="{3661574B-2925-41BA-956A-2F6E797759A6}" dt="2026-10-07T05:39:58.488" v="18" actId="2711"/>
          <ac:spMkLst>
            <pc:docMk/>
            <pc:sldMk cId="0" sldId="262"/>
            <ac:spMk id="7" creationId="{30A546FD-DD58-32D5-41E7-BF3D15AE7009}"/>
          </ac:spMkLst>
        </pc:spChg>
      </pc:sldChg>
      <pc:sldChg chg="modSp mod">
        <pc:chgData name="sai ram" userId="f35e7e42b41a4aaf" providerId="LiveId" clId="{3661574B-2925-41BA-956A-2F6E797759A6}" dt="2026-10-07T05:35:21.510" v="2" actId="2711"/>
        <pc:sldMkLst>
          <pc:docMk/>
          <pc:sldMk cId="1672422596" sldId="264"/>
        </pc:sldMkLst>
        <pc:spChg chg="mod">
          <ac:chgData name="sai ram" userId="f35e7e42b41a4aaf" providerId="LiveId" clId="{3661574B-2925-41BA-956A-2F6E797759A6}" dt="2026-10-07T05:35:21.510" v="2" actId="2711"/>
          <ac:spMkLst>
            <pc:docMk/>
            <pc:sldMk cId="1672422596" sldId="264"/>
            <ac:spMk id="5" creationId="{277C3D2D-A7F4-D1D6-7E6E-CFCBA565C150}"/>
          </ac:spMkLst>
        </pc:spChg>
      </pc:sldChg>
      <pc:sldChg chg="modSp mod">
        <pc:chgData name="sai ram" userId="f35e7e42b41a4aaf" providerId="LiveId" clId="{3661574B-2925-41BA-956A-2F6E797759A6}" dt="2026-10-07T05:37:50.258" v="8" actId="2711"/>
        <pc:sldMkLst>
          <pc:docMk/>
          <pc:sldMk cId="3441026644" sldId="265"/>
        </pc:sldMkLst>
        <pc:spChg chg="mod">
          <ac:chgData name="sai ram" userId="f35e7e42b41a4aaf" providerId="LiveId" clId="{3661574B-2925-41BA-956A-2F6E797759A6}" dt="2026-10-07T05:37:10.624" v="4" actId="2711"/>
          <ac:spMkLst>
            <pc:docMk/>
            <pc:sldMk cId="3441026644" sldId="265"/>
            <ac:spMk id="9" creationId="{5B2D49FD-D8D3-A97E-FC73-9C8851C7DCAF}"/>
          </ac:spMkLst>
        </pc:spChg>
        <pc:spChg chg="mod">
          <ac:chgData name="sai ram" userId="f35e7e42b41a4aaf" providerId="LiveId" clId="{3661574B-2925-41BA-956A-2F6E797759A6}" dt="2026-10-07T05:37:40.106" v="7" actId="2711"/>
          <ac:spMkLst>
            <pc:docMk/>
            <pc:sldMk cId="3441026644" sldId="265"/>
            <ac:spMk id="11" creationId="{EB0C01A4-5C11-7BD3-A3AC-47ED6855F9AE}"/>
          </ac:spMkLst>
        </pc:spChg>
        <pc:spChg chg="mod">
          <ac:chgData name="sai ram" userId="f35e7e42b41a4aaf" providerId="LiveId" clId="{3661574B-2925-41BA-956A-2F6E797759A6}" dt="2026-10-07T05:37:28.577" v="6" actId="2711"/>
          <ac:spMkLst>
            <pc:docMk/>
            <pc:sldMk cId="3441026644" sldId="265"/>
            <ac:spMk id="27" creationId="{44C97796-B4A8-997D-9110-04649C7E1F38}"/>
          </ac:spMkLst>
        </pc:spChg>
        <pc:spChg chg="mod">
          <ac:chgData name="sai ram" userId="f35e7e42b41a4aaf" providerId="LiveId" clId="{3661574B-2925-41BA-956A-2F6E797759A6}" dt="2026-10-07T05:37:50.258" v="8" actId="2711"/>
          <ac:spMkLst>
            <pc:docMk/>
            <pc:sldMk cId="3441026644" sldId="265"/>
            <ac:spMk id="31" creationId="{E9B9FA7F-B377-4099-3C79-D267BAD93E37}"/>
          </ac:spMkLst>
        </pc:spChg>
      </pc:sldChg>
      <pc:sldChg chg="modSp mod">
        <pc:chgData name="sai ram" userId="f35e7e42b41a4aaf" providerId="LiveId" clId="{3661574B-2925-41BA-956A-2F6E797759A6}" dt="2026-10-07T05:39:12.836" v="14" actId="2711"/>
        <pc:sldMkLst>
          <pc:docMk/>
          <pc:sldMk cId="2292750904" sldId="266"/>
        </pc:sldMkLst>
        <pc:spChg chg="mod">
          <ac:chgData name="sai ram" userId="f35e7e42b41a4aaf" providerId="LiveId" clId="{3661574B-2925-41BA-956A-2F6E797759A6}" dt="2026-10-07T05:39:12.836" v="14" actId="2711"/>
          <ac:spMkLst>
            <pc:docMk/>
            <pc:sldMk cId="2292750904" sldId="266"/>
            <ac:spMk id="10" creationId="{BB0E574F-7508-A42D-FB80-216A0B3DCDE9}"/>
          </ac:spMkLst>
        </pc:spChg>
        <pc:spChg chg="mod">
          <ac:chgData name="sai ram" userId="f35e7e42b41a4aaf" providerId="LiveId" clId="{3661574B-2925-41BA-956A-2F6E797759A6}" dt="2026-10-07T05:38:57.251" v="12" actId="2711"/>
          <ac:spMkLst>
            <pc:docMk/>
            <pc:sldMk cId="2292750904" sldId="266"/>
            <ac:spMk id="11" creationId="{117AD2CC-2BAC-FBC2-1654-4631D6A96315}"/>
          </ac:spMkLst>
        </pc:spChg>
      </pc:sldChg>
      <pc:sldChg chg="modSp mod">
        <pc:chgData name="sai ram" userId="f35e7e42b41a4aaf" providerId="LiveId" clId="{3661574B-2925-41BA-956A-2F6E797759A6}" dt="2026-10-07T05:41:43.911" v="24" actId="1076"/>
        <pc:sldMkLst>
          <pc:docMk/>
          <pc:sldMk cId="106092222" sldId="267"/>
        </pc:sldMkLst>
        <pc:spChg chg="mod">
          <ac:chgData name="sai ram" userId="f35e7e42b41a4aaf" providerId="LiveId" clId="{3661574B-2925-41BA-956A-2F6E797759A6}" dt="2026-10-07T05:41:43.911" v="24" actId="1076"/>
          <ac:spMkLst>
            <pc:docMk/>
            <pc:sldMk cId="106092222" sldId="267"/>
            <ac:spMk id="5" creationId="{DBFD705E-6D65-23BB-F7CB-2D3C01E86A3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Data Structures and Algorithms -3 (25CS2103E)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Title of the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70160" y="3513524"/>
            <a:ext cx="7424000" cy="1840796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 K. Sankeerthana Thanmaye</a:t>
            </a:r>
          </a:p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Rollno:2520090193</a:t>
            </a: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Under the Esteemed Guidance of: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Mrs. Ch. Anitha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 of the DSA-3 faculty name with designation and department  </a:t>
            </a:r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 </a:t>
            </a: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Future Scope 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7C3D2D-A7F4-D1D6-7E6E-CFCBA565C150}"/>
              </a:ext>
            </a:extLst>
          </p:cNvPr>
          <p:cNvSpPr txBox="1"/>
          <p:nvPr/>
        </p:nvSpPr>
        <p:spPr>
          <a:xfrm>
            <a:off x="3448216" y="1151268"/>
            <a:ext cx="816864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8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2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lang="en-IN" sz="24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Maps Route Visualizer</a:t>
            </a:r>
            <a:r>
              <a:rPr lang="en-IN" sz="2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graph-based route-finding system designed to identify the shortest and most efficient path between two locations. The road network is represented as a </a:t>
            </a:r>
            <a:r>
              <a:rPr lang="en-IN" sz="24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weighted graph</a:t>
            </a:r>
            <a:r>
              <a:rPr lang="en-IN" sz="2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where locations are vertices and roads are weighted edges based on distance or travel cost. </a:t>
            </a:r>
            <a:r>
              <a:rPr lang="en-IN" sz="24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Dijkstra’s Algorithm</a:t>
            </a:r>
            <a:r>
              <a:rPr lang="en-IN" sz="2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used to calculate the shortest path, while </a:t>
            </a:r>
            <a:r>
              <a:rPr lang="en-IN" sz="24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A* Search</a:t>
            </a:r>
            <a:r>
              <a:rPr lang="en-IN" sz="2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can be used as an optimized alternative for faster destination-directed search. The system uses an </a:t>
            </a:r>
            <a:r>
              <a:rPr lang="en-IN" sz="24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adjacency list and priority queue</a:t>
            </a:r>
            <a:r>
              <a:rPr lang="en-IN" sz="2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efficient graph processing and reconstructs the final route using parent-node information. The project demonstrates the practical application of </a:t>
            </a:r>
            <a:r>
              <a:rPr lang="en-IN" sz="24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and Algorithms (DSA)</a:t>
            </a:r>
            <a:r>
              <a:rPr lang="en-IN" sz="2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real-world navigation and route optimization.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4E4A2B-4C73-2811-F119-851E4C6012C2}"/>
              </a:ext>
            </a:extLst>
          </p:cNvPr>
          <p:cNvSpPr txBox="1"/>
          <p:nvPr/>
        </p:nvSpPr>
        <p:spPr>
          <a:xfrm>
            <a:off x="3838746" y="1157223"/>
            <a:ext cx="8539842" cy="427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1900">
                <a:solidFill>
                  <a:srgbClr val="1E293B"/>
                </a:solidFill>
              </a:defRPr>
            </a:pPr>
            <a:r>
              <a:rPr lang="en-US" sz="19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 planning is a shortest-path problem on a weighted graph.</a:t>
            </a:r>
          </a:p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endParaRPr lang="en-US" sz="19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1900">
                <a:solidFill>
                  <a:srgbClr val="1E293B"/>
                </a:solidFill>
              </a:defRPr>
            </a:pPr>
            <a:r>
              <a:rPr lang="en-US" sz="19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Locations/intersections are represented as vertices (nodes).</a:t>
            </a:r>
          </a:p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endParaRPr lang="en-US" sz="19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1900">
                <a:solidFill>
                  <a:srgbClr val="1E293B"/>
                </a:solidFill>
              </a:defRPr>
            </a:pPr>
            <a:r>
              <a:rPr lang="en-US" sz="19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Roads are represented as weighted edges using distance or travel costs </a:t>
            </a:r>
          </a:p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endParaRPr lang="en-US" sz="19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1900">
                <a:solidFill>
                  <a:srgbClr val="1E293B"/>
                </a:solidFill>
              </a:defRPr>
            </a:pPr>
            <a:r>
              <a:rPr lang="en-US" sz="19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finds an efficient route from a chosen source to a destination.</a:t>
            </a:r>
            <a:br>
              <a:rPr lang="en-US" sz="19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9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1900">
                <a:solidFill>
                  <a:srgbClr val="1E293B"/>
                </a:solidFill>
              </a:defRPr>
            </a:pPr>
            <a:r>
              <a:rPr lang="en-US" sz="19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Dijkstra’s algorithm is suitable when edge weights are non-negative. cite turn0search1 turn 0search3</a:t>
            </a:r>
            <a:endParaRPr lang="en-IN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D09C9D-5808-56DF-1032-BA81A293E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3" y="3023118"/>
            <a:ext cx="3645328" cy="31872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876B0BD-2BB9-6428-9732-5E0328BB4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511552"/>
              </p:ext>
            </p:extLst>
          </p:nvPr>
        </p:nvGraphicFramePr>
        <p:xfrm>
          <a:off x="2976880" y="1099128"/>
          <a:ext cx="8991600" cy="56675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47900">
                  <a:extLst>
                    <a:ext uri="{9D8B030D-6E8A-4147-A177-3AD203B41FA5}">
                      <a16:colId xmlns:a16="http://schemas.microsoft.com/office/drawing/2014/main" val="2173138451"/>
                    </a:ext>
                  </a:extLst>
                </a:gridCol>
                <a:gridCol w="2462957">
                  <a:extLst>
                    <a:ext uri="{9D8B030D-6E8A-4147-A177-3AD203B41FA5}">
                      <a16:colId xmlns:a16="http://schemas.microsoft.com/office/drawing/2014/main" val="877942733"/>
                    </a:ext>
                  </a:extLst>
                </a:gridCol>
                <a:gridCol w="2032843">
                  <a:extLst>
                    <a:ext uri="{9D8B030D-6E8A-4147-A177-3AD203B41FA5}">
                      <a16:colId xmlns:a16="http://schemas.microsoft.com/office/drawing/2014/main" val="3157969541"/>
                    </a:ext>
                  </a:extLst>
                </a:gridCol>
                <a:gridCol w="2247900">
                  <a:extLst>
                    <a:ext uri="{9D8B030D-6E8A-4147-A177-3AD203B41FA5}">
                      <a16:colId xmlns:a16="http://schemas.microsoft.com/office/drawing/2014/main" val="1384252544"/>
                    </a:ext>
                  </a:extLst>
                </a:gridCol>
              </a:tblGrid>
              <a:tr h="4553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Study / Author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Focus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Key Finding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Relevance to Our Project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2237104778"/>
                  </a:ext>
                </a:extLst>
              </a:tr>
              <a:tr h="1303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Dijkstra (1959)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Shortest-path algorithm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Introduced an efficient method for finding the shortest path in a graph with non-negative edge weights.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Forms the core algorithm of our route-finding system.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2852156358"/>
                  </a:ext>
                </a:extLst>
              </a:tr>
              <a:tr h="1303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Hart, Nilsson &amp; Raphael (1968)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A* Search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Proposed A* search using path cost and a heuristic to guide the search toward the destination.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Provides a faster alternative to Dijkstra for map-based navigation.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2832495380"/>
                  </a:ext>
                </a:extLst>
              </a:tr>
              <a:tr h="1303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Zeng &amp; Church (2009)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Shortest-path algorithms for road networks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Studied shortest-path computation specifically in transportation networks.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Supports the use of graph-based routing for road networks.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1683271323"/>
                  </a:ext>
                </a:extLst>
              </a:tr>
              <a:tr h="1303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Bast et al. (2016)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Route planning in transportation networks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Reviewed advanced techniques for extremely fast route planning on large road networks.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Shows how basic shortest-path methods can be extended for large-scale navigation systems.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105377423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914647FD-97FC-3753-7E16-419FAD74244D}"/>
              </a:ext>
            </a:extLst>
          </p:cNvPr>
          <p:cNvSpPr/>
          <p:nvPr/>
        </p:nvSpPr>
        <p:spPr>
          <a:xfrm>
            <a:off x="2991866" y="1717040"/>
            <a:ext cx="3734054" cy="1873929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Efficiently finding the shortest path between a source and destination when there are multiple possible routes, different road distances, and a large number of locations. The system must process this graph quickly and return the optimal route</a:t>
            </a:r>
            <a:endParaRPr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Rounded Rectangle 10">
            <a:extLst>
              <a:ext uri="{FF2B5EF4-FFF2-40B4-BE49-F238E27FC236}">
                <a16:creationId xmlns:a16="http://schemas.microsoft.com/office/drawing/2014/main" id="{84617DBB-759C-DD99-3A6D-C76A3AE9D13E}"/>
              </a:ext>
            </a:extLst>
          </p:cNvPr>
          <p:cNvSpPr/>
          <p:nvPr/>
        </p:nvSpPr>
        <p:spPr>
          <a:xfrm>
            <a:off x="2460971" y="4267201"/>
            <a:ext cx="4436808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tx1"/>
                </a:solidFill>
              </a:rPr>
              <a:t>Source Location</a:t>
            </a:r>
            <a:r>
              <a:rPr lang="en-IN" sz="1400" dirty="0">
                <a:solidFill>
                  <a:schemeClr val="tx1"/>
                </a:solidFill>
              </a:rPr>
              <a:t> – The starting point.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tx1"/>
                </a:solidFill>
              </a:rPr>
              <a:t>Destination Location</a:t>
            </a:r>
            <a:r>
              <a:rPr lang="en-IN" sz="1400" dirty="0">
                <a:solidFill>
                  <a:schemeClr val="tx1"/>
                </a:solidFill>
              </a:rPr>
              <a:t> – Where the user wants to go.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tx1"/>
                </a:solidFill>
              </a:rPr>
              <a:t>Road Network</a:t>
            </a:r>
            <a:r>
              <a:rPr lang="en-IN" sz="1400" dirty="0">
                <a:solidFill>
                  <a:schemeClr val="tx1"/>
                </a:solidFill>
              </a:rPr>
              <a:t> – The locations (nodes) and roads connecting them (edges).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tx1"/>
                </a:solidFill>
              </a:rPr>
              <a:t>Distance/Cost of Roads</a:t>
            </a:r>
            <a:r>
              <a:rPr lang="en-IN" sz="1400" dirty="0">
                <a:solidFill>
                  <a:schemeClr val="tx1"/>
                </a:solidFill>
              </a:rPr>
              <a:t> – The weight assigned to each road.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2D49FD-D8D3-A97E-FC73-9C8851C7DCAF}"/>
              </a:ext>
            </a:extLst>
          </p:cNvPr>
          <p:cNvSpPr txBox="1"/>
          <p:nvPr/>
        </p:nvSpPr>
        <p:spPr>
          <a:xfrm>
            <a:off x="3948318" y="1330047"/>
            <a:ext cx="2015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037"/>
                </a:solidFill>
              </a:defRPr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0C01A4-5C11-7BD3-A3AC-47ED6855F9AE}"/>
              </a:ext>
            </a:extLst>
          </p:cNvPr>
          <p:cNvSpPr txBox="1"/>
          <p:nvPr/>
        </p:nvSpPr>
        <p:spPr>
          <a:xfrm flipH="1">
            <a:off x="4354234" y="3824964"/>
            <a:ext cx="100931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037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06707DF7-F47E-D941-83F2-1B1579C15987}"/>
              </a:ext>
            </a:extLst>
          </p:cNvPr>
          <p:cNvSpPr/>
          <p:nvPr/>
        </p:nvSpPr>
        <p:spPr>
          <a:xfrm>
            <a:off x="7266715" y="1832509"/>
            <a:ext cx="4530423" cy="1565733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To efficiently calculate and visualize the shortest route between two locations using graph algorithms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3" name="Rounded Rectangle 14">
            <a:extLst>
              <a:ext uri="{FF2B5EF4-FFF2-40B4-BE49-F238E27FC236}">
                <a16:creationId xmlns:a16="http://schemas.microsoft.com/office/drawing/2014/main" id="{52C32833-9883-A405-1098-1A0E3A4EBE28}"/>
              </a:ext>
            </a:extLst>
          </p:cNvPr>
          <p:cNvSpPr/>
          <p:nvPr/>
        </p:nvSpPr>
        <p:spPr>
          <a:xfrm>
            <a:off x="7592635" y="4267201"/>
            <a:ext cx="403860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The </a:t>
            </a:r>
            <a:r>
              <a:rPr lang="en-IN" sz="1600" b="1" dirty="0">
                <a:solidFill>
                  <a:schemeClr val="tx1"/>
                </a:solidFill>
              </a:rPr>
              <a:t>output</a:t>
            </a:r>
            <a:r>
              <a:rPr lang="en-IN" sz="1600" dirty="0">
                <a:solidFill>
                  <a:schemeClr val="tx1"/>
                </a:solidFill>
              </a:rPr>
              <a:t> of the Google Maps Route Visualizer is the </a:t>
            </a:r>
            <a:r>
              <a:rPr lang="en-IN" sz="1600" b="1" dirty="0">
                <a:solidFill>
                  <a:schemeClr val="tx1"/>
                </a:solidFill>
              </a:rPr>
              <a:t>shortest/optimal route between the selected source and destination</a:t>
            </a:r>
            <a:r>
              <a:rPr lang="en-IN" sz="1600" dirty="0">
                <a:solidFill>
                  <a:schemeClr val="tx1"/>
                </a:solidFill>
              </a:rPr>
              <a:t>, along with its total distance or cost.</a:t>
            </a:r>
            <a:endParaRPr sz="1600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C97796-B4A8-997D-9110-04649C7E1F38}"/>
              </a:ext>
            </a:extLst>
          </p:cNvPr>
          <p:cNvSpPr txBox="1"/>
          <p:nvPr/>
        </p:nvSpPr>
        <p:spPr>
          <a:xfrm>
            <a:off x="8661579" y="1429127"/>
            <a:ext cx="1444236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037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9B9FA7F-B377-4099-3C79-D267BAD93E37}"/>
              </a:ext>
            </a:extLst>
          </p:cNvPr>
          <p:cNvSpPr txBox="1"/>
          <p:nvPr/>
        </p:nvSpPr>
        <p:spPr>
          <a:xfrm>
            <a:off x="9249862" y="3863819"/>
            <a:ext cx="1150866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037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F7D2D1-AC57-DBA7-7A0B-25D965D3E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6989" y="975360"/>
            <a:ext cx="5626114" cy="54734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FD705E-6D65-23BB-F7CB-2D3C01E86A39}"/>
              </a:ext>
            </a:extLst>
          </p:cNvPr>
          <p:cNvSpPr txBox="1"/>
          <p:nvPr/>
        </p:nvSpPr>
        <p:spPr>
          <a:xfrm>
            <a:off x="3334326" y="806448"/>
            <a:ext cx="8684954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lang="en-IN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Maps Route Visualizer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finds the shortest route between a given source and destination using a </a:t>
            </a:r>
            <a:r>
              <a:rPr lang="en-IN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weighted graph and Dijkstra’s algorithm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r>
              <a:rPr lang="en-IN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Result</a:t>
            </a:r>
          </a:p>
          <a:p>
            <a:pPr>
              <a:buNone/>
            </a:pPr>
            <a:r>
              <a:rPr lang="en-IN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endParaRPr lang="en-IN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 </a:t>
            </a:r>
            <a:r>
              <a:rPr lang="en-IN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Destination: </a:t>
            </a:r>
            <a:r>
              <a:rPr lang="en-IN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r>
              <a:rPr lang="en-IN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Available routes:</a:t>
            </a:r>
            <a:endParaRPr lang="en-IN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→ B → D → F = 4 + 5 + 6 = </a:t>
            </a:r>
            <a:r>
              <a:rPr lang="en-IN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→ C → D → F = 2 + 8 + 6 = </a:t>
            </a:r>
            <a:r>
              <a:rPr lang="en-IN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→ C → E → F = 2 + 3 + 4 = </a:t>
            </a:r>
            <a:r>
              <a:rPr lang="en-IN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Output</a:t>
            </a:r>
          </a:p>
          <a:p>
            <a:pPr rtl="0">
              <a:buNone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         : A</a:t>
            </a:r>
          </a:p>
          <a:p>
            <a:pPr rtl="0">
              <a:buNone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Destination     : F</a:t>
            </a:r>
          </a:p>
          <a:p>
            <a:pPr rtl="0">
              <a:buNone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Shortest Route  : A → C → E → F</a:t>
            </a:r>
          </a:p>
          <a:p>
            <a:pPr rtl="0">
              <a:buNone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Distance  : 9 km</a:t>
            </a:r>
          </a:p>
          <a:p>
            <a:pPr rtl="0">
              <a:buNone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 Used : Dijkstra's Algorithm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F5378A-7581-33B8-5396-B4C266808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871" y="2146041"/>
            <a:ext cx="4493175" cy="29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0E574F-7508-A42D-FB80-216A0B3DCDE9}"/>
              </a:ext>
            </a:extLst>
          </p:cNvPr>
          <p:cNvSpPr txBox="1"/>
          <p:nvPr/>
        </p:nvSpPr>
        <p:spPr>
          <a:xfrm>
            <a:off x="2456621" y="2197914"/>
            <a:ext cx="47155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AD2CC-2BAC-FBC2-1654-4631D6A96315}"/>
              </a:ext>
            </a:extLst>
          </p:cNvPr>
          <p:cNvSpPr txBox="1"/>
          <p:nvPr/>
        </p:nvSpPr>
        <p:spPr>
          <a:xfrm>
            <a:off x="7656249" y="1095780"/>
            <a:ext cx="35301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BADCB32-243B-08B2-C1B9-7A75AFFC2B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87783"/>
              </p:ext>
            </p:extLst>
          </p:nvPr>
        </p:nvGraphicFramePr>
        <p:xfrm>
          <a:off x="7320914" y="1619000"/>
          <a:ext cx="4715510" cy="5035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57755">
                  <a:extLst>
                    <a:ext uri="{9D8B030D-6E8A-4147-A177-3AD203B41FA5}">
                      <a16:colId xmlns:a16="http://schemas.microsoft.com/office/drawing/2014/main" val="705068261"/>
                    </a:ext>
                  </a:extLst>
                </a:gridCol>
                <a:gridCol w="2357755">
                  <a:extLst>
                    <a:ext uri="{9D8B030D-6E8A-4147-A177-3AD203B41FA5}">
                      <a16:colId xmlns:a16="http://schemas.microsoft.com/office/drawing/2014/main" val="3665712156"/>
                    </a:ext>
                  </a:extLst>
                </a:gridCol>
              </a:tblGrid>
              <a:tr h="555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2F0000"/>
                          </a:solidFill>
                        </a:rPr>
                        <a:t>Software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2F0000"/>
                          </a:solidFill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8107139"/>
                  </a:ext>
                </a:extLst>
              </a:tr>
              <a:tr h="615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2F0000"/>
                          </a:solidFill>
                        </a:rPr>
                        <a:t>Windows / Linux / macOS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2F0000"/>
                          </a:solidFill>
                        </a:rPr>
                        <a:t>Operating 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2155401"/>
                  </a:ext>
                </a:extLst>
              </a:tr>
              <a:tr h="615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2F0000"/>
                          </a:solidFill>
                        </a:rPr>
                        <a:t>Java JDK 17+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2F0000"/>
                          </a:solidFill>
                        </a:rPr>
                        <a:t>Development and execution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6900607"/>
                  </a:ext>
                </a:extLst>
              </a:tr>
              <a:tr h="615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2F0000"/>
                          </a:solidFill>
                        </a:rPr>
                        <a:t>VS Code / IntelliJ IDEA / Eclipse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2F0000"/>
                          </a:solidFill>
                        </a:rPr>
                        <a:t>Java programming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040169"/>
                  </a:ext>
                </a:extLst>
              </a:tr>
              <a:tr h="615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2F0000"/>
                          </a:solidFill>
                        </a:rPr>
                        <a:t>Java Collections Framework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2F0000"/>
                          </a:solidFill>
                        </a:rPr>
                        <a:t>Graph, Array List &amp; Priority Queue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5867680"/>
                  </a:ext>
                </a:extLst>
              </a:tr>
              <a:tr h="615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2F0000"/>
                          </a:solidFill>
                        </a:rPr>
                        <a:t>Web Browser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2F0000"/>
                          </a:solidFill>
                        </a:rPr>
                        <a:t>Viewing maps/visualization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0147387"/>
                  </a:ext>
                </a:extLst>
              </a:tr>
              <a:tr h="615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2F0000"/>
                          </a:solidFill>
                        </a:rPr>
                        <a:t>Google Maps / Map API (optional)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2F0000"/>
                          </a:solidFill>
                        </a:rPr>
                        <a:t>Real-world map integration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8023377"/>
                  </a:ext>
                </a:extLst>
              </a:tr>
              <a:tr h="615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2F0000"/>
                          </a:solidFill>
                        </a:rPr>
                        <a:t>Git &amp; GitHub (optional)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2F0000"/>
                          </a:solidFill>
                        </a:rPr>
                        <a:t>Version control and project hosting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944945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06F1557-1DB2-3440-EAD2-2FFFB55390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3649096"/>
              </p:ext>
            </p:extLst>
          </p:nvPr>
        </p:nvGraphicFramePr>
        <p:xfrm>
          <a:off x="1681480" y="2721134"/>
          <a:ext cx="5562600" cy="38015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81300">
                  <a:extLst>
                    <a:ext uri="{9D8B030D-6E8A-4147-A177-3AD203B41FA5}">
                      <a16:colId xmlns:a16="http://schemas.microsoft.com/office/drawing/2014/main" val="1739088225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3486478630"/>
                    </a:ext>
                  </a:extLst>
                </a:gridCol>
              </a:tblGrid>
              <a:tr h="7840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Minimum Requirement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2872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Processor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Intel Core i3 / AMD Ryzen 3 or above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6139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 GB minimum, 8 GB recommended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3822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500 MB free space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46132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Display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1366 × 768 or higher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3074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Keyboard &amp; Mouse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Standard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0907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Internet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Required if using online map services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0214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3CB8E7-CD47-63D5-C2AE-6FC32DC419E1}"/>
              </a:ext>
            </a:extLst>
          </p:cNvPr>
          <p:cNvSpPr txBox="1"/>
          <p:nvPr/>
        </p:nvSpPr>
        <p:spPr>
          <a:xfrm>
            <a:off x="2920779" y="1181448"/>
            <a:ext cx="876808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Maps Route Visualizer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demonstrates the practical application of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and Algorithms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real-world route planning. By representing locations and roads as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graph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applying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Dijkstra’s Algorithm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system can identify the shortest and most efficient route between two locations. The use of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adjacency lists, priority queues, and path reconstruction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makes the solution efficient and easy to understand. The project also provides a strong foundation for future enhancements such as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A* search, GPS integration, real-time traffic updates, and AI-based route recommendations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shows how graph algorithms can be effectively used to solve real-world navigation and optimization problems.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0C4227-EEA5-C4D0-0505-329D50D65159}"/>
              </a:ext>
            </a:extLst>
          </p:cNvPr>
          <p:cNvSpPr txBox="1"/>
          <p:nvPr/>
        </p:nvSpPr>
        <p:spPr>
          <a:xfrm>
            <a:off x="861527" y="4152122"/>
            <a:ext cx="5234472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eal-time traffic → A* optimization → GPS integration → Multiple routes → Dynamic road conditions → AI-based prediction → Voice navigation → Multi-modal transportation → Large-scale graph optimization → Personalized navigation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A546FD-DD58-32D5-41E7-BF3D15AE7009}"/>
              </a:ext>
            </a:extLst>
          </p:cNvPr>
          <p:cNvSpPr txBox="1"/>
          <p:nvPr/>
        </p:nvSpPr>
        <p:spPr>
          <a:xfrm>
            <a:off x="2916108" y="1066825"/>
            <a:ext cx="8502074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🚀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uture Scope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can be further developed into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and intelligent navigation system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integrating live traffic data and GPS for accurate route updates.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A*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implemented for faster pathfinding, while interactive maps can visually display the selected route. Future versions can also provide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route options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support different transportation modes, and use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to predict traffic and recommend better routes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system can evolve from a basic DSA-based shortest-path project into a smart, real-time navigation application.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402BF4-9370-1B73-793F-892A2B9D7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0056" y="4016298"/>
            <a:ext cx="6071989" cy="262002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1017</Words>
  <Application>Microsoft Office PowerPoint</Application>
  <PresentationFormat>Widescreen</PresentationFormat>
  <Paragraphs>119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       Data Structures and Algorithms -3 (25CS2103E)  Title of the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sai ram</cp:lastModifiedBy>
  <cp:revision>21</cp:revision>
  <dcterms:created xsi:type="dcterms:W3CDTF">2024-08-29T05:25:00Z</dcterms:created>
  <dcterms:modified xsi:type="dcterms:W3CDTF">2026-10-11T09:00:25Z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
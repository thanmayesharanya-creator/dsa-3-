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64" r:id="rId4"/>
    <p:sldId id="258" r:id="rId5"/>
    <p:sldId id="261" r:id="rId6"/>
    <p:sldId id="265" r:id="rId7"/>
    <p:sldId id="259" r:id="rId8"/>
    <p:sldId id="267" r:id="rId9"/>
    <p:sldId id="266" r:id="rId10"/>
    <p:sldId id="260" r:id="rId11"/>
    <p:sldId id="262" r:id="rId12"/>
    <p:sldId id="268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F0000"/>
    <a:srgbClr val="7332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96" d="100"/>
          <a:sy n="96" d="100"/>
        </p:scale>
        <p:origin x="1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  <a:alpha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11" descr="KL University Hyderabad"/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4450"/>
            <a:ext cx="2101850" cy="900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7"/>
          <p:cNvSpPr/>
          <p:nvPr userDrawn="1"/>
        </p:nvSpPr>
        <p:spPr>
          <a:xfrm>
            <a:off x="0" y="6811963"/>
            <a:ext cx="12192000" cy="46037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9" name="Rectangle 8"/>
          <p:cNvSpPr/>
          <p:nvPr userDrawn="1"/>
        </p:nvSpPr>
        <p:spPr>
          <a:xfrm>
            <a:off x="0" y="0"/>
            <a:ext cx="12192000" cy="46038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pic>
        <p:nvPicPr>
          <p:cNvPr id="10" name="Picture 6" descr="Background pattern&#10;&#10;Description automatically generated"/>
          <p:cNvPicPr>
            <a:picLocks noChangeAspect="1" noChangeArrowheads="1"/>
          </p:cNvPicPr>
          <p:nvPr userDrawn="1"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003550" cy="300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61938" y="1027775"/>
            <a:ext cx="9144000" cy="2316702"/>
          </a:xfrm>
        </p:spPr>
        <p:txBody>
          <a:bodyPr/>
          <a:lstStyle/>
          <a:p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br>
              <a:rPr lang="en-US" sz="4000" b="1" dirty="0">
                <a:solidFill>
                  <a:srgbClr val="C00000"/>
                </a:solidFill>
                <a:latin typeface="+mn-lt"/>
              </a:rPr>
            </a:br>
            <a:r>
              <a:rPr lang="en-US" sz="4000" b="1" dirty="0">
                <a:solidFill>
                  <a:srgbClr val="C00000"/>
                </a:solidFill>
                <a:latin typeface="+mn-lt"/>
              </a:rPr>
              <a:t>Data Structures and Algorithms -3 (25CS2103E)</a:t>
            </a:r>
            <a:br>
              <a:rPr lang="en-US" sz="4000" b="1" dirty="0">
                <a:solidFill>
                  <a:srgbClr val="C00000"/>
                </a:solidFill>
                <a:latin typeface="+mn-lt"/>
              </a:rPr>
            </a:br>
            <a:br>
              <a:rPr lang="en-US" sz="4000" b="1" dirty="0">
                <a:solidFill>
                  <a:srgbClr val="C00000"/>
                </a:solidFill>
                <a:latin typeface="+mn-lt"/>
              </a:rPr>
            </a:br>
            <a:r>
              <a:rPr lang="en-US" sz="4000" b="1" dirty="0">
                <a:solidFill>
                  <a:srgbClr val="C00000"/>
                </a:solidFill>
                <a:latin typeface="+mn-lt"/>
              </a:rPr>
              <a:t>Title of the project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270160" y="3513524"/>
            <a:ext cx="7424000" cy="1840796"/>
          </a:xfrm>
        </p:spPr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Team Members: K. Sankeerthana Thanmaye</a:t>
            </a:r>
          </a:p>
          <a:p>
            <a:r>
              <a:rPr lang="en-US" dirty="0">
                <a:solidFill>
                  <a:srgbClr val="0070C0"/>
                </a:solidFill>
              </a:rPr>
              <a:t> Rollno:2520090193</a:t>
            </a:r>
          </a:p>
          <a:p>
            <a:pPr marL="171450" algn="ctr">
              <a:lnSpc>
                <a:spcPct val="107000"/>
              </a:lnSpc>
              <a:spcAft>
                <a:spcPts val="800"/>
              </a:spcAft>
            </a:pPr>
            <a:endParaRPr lang="en-US" sz="1800" kern="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Gautami" panose="020B0502040204020203" pitchFamily="34" charset="0"/>
            </a:endParaRPr>
          </a:p>
          <a:p>
            <a:pPr marL="171450">
              <a:spcAft>
                <a:spcPts val="800"/>
              </a:spcAft>
            </a:pPr>
            <a:r>
              <a:rPr lang="en-US" sz="180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Gautami" panose="020B0502040204020203" pitchFamily="34" charset="0"/>
              </a:rPr>
              <a:t>Under the Esteemed Guidance of:  </a:t>
            </a:r>
            <a:r>
              <a:rPr lang="en-US" dirty="0"/>
              <a:t>Mrs. Ch. Anitha</a:t>
            </a:r>
            <a:endParaRPr lang="en-IN" dirty="0"/>
          </a:p>
          <a:p>
            <a:pPr marL="171450" algn="ctr">
              <a:lnSpc>
                <a:spcPct val="107000"/>
              </a:lnSpc>
              <a:spcAft>
                <a:spcPts val="800"/>
              </a:spcAft>
            </a:pPr>
            <a:endParaRPr lang="en-IN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Gautami" panose="020B0502040204020203" pitchFamily="34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800" b="1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Gautami" panose="020B0502040204020203" pitchFamily="34" charset="0"/>
              </a:rPr>
              <a:t>Name of the DSA-3 faculty name with designation and department  </a:t>
            </a:r>
            <a:endParaRPr lang="en-IN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Gautami" panose="020B0502040204020203" pitchFamily="34" charset="0"/>
            </a:endParaRPr>
          </a:p>
          <a:p>
            <a:endParaRPr lang="en-US" dirty="0">
              <a:solidFill>
                <a:srgbClr val="0070C0"/>
              </a:solidFill>
            </a:endParaRPr>
          </a:p>
          <a:p>
            <a:endParaRPr lang="en-US" b="1"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1C70C049-38C4-198F-3181-AACE07DE24AE}"/>
              </a:ext>
            </a:extLst>
          </p:cNvPr>
          <p:cNvSpPr txBox="1"/>
          <p:nvPr/>
        </p:nvSpPr>
        <p:spPr>
          <a:xfrm>
            <a:off x="3736109" y="806448"/>
            <a:ext cx="6936386" cy="58355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 algn="l" rtl="0" eaLnBrk="1" fontAlgn="t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3200" b="0" i="0" u="none" strike="noStrike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Abstract</a:t>
            </a:r>
          </a:p>
          <a:p>
            <a:pPr marL="457200" indent="-457200" algn="l" rtl="0" eaLnBrk="1" fontAlgn="t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3200" b="0" i="0" u="none" strike="noStrike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Introduction</a:t>
            </a:r>
            <a:endParaRPr lang="en-IN" sz="3200" b="0" i="0" u="none" strike="noStrike" dirty="0">
              <a:effectLst/>
              <a:latin typeface="Arial" panose="020B0604020202020204" pitchFamily="34" charset="0"/>
            </a:endParaRPr>
          </a:p>
          <a:p>
            <a:pPr marL="457200" indent="-457200" algn="l" rtl="0" eaLnBrk="1" fontAlgn="t" latinLnBrk="0" hangingPunct="1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32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Gautami" panose="020B0502040204020203" pitchFamily="34" charset="0"/>
              </a:rPr>
              <a:t>Literature survey</a:t>
            </a:r>
            <a:endParaRPr lang="en-IN" sz="3200" b="0" i="0" u="none" strike="noStrike" dirty="0">
              <a:effectLst/>
              <a:latin typeface="Arial" panose="020B0604020202020204" pitchFamily="34" charset="0"/>
            </a:endParaRPr>
          </a:p>
          <a:p>
            <a:pPr marL="457200" indent="-457200" algn="l" rtl="0" eaLnBrk="1" fontAlgn="t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32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Gautami" panose="020B0502040204020203" pitchFamily="34" charset="0"/>
              </a:rPr>
              <a:t>Problem Statement and Objectives</a:t>
            </a:r>
            <a:endParaRPr lang="en-IN" sz="3200" b="0" i="0" u="none" strike="noStrike" dirty="0">
              <a:effectLst/>
              <a:latin typeface="Arial" panose="020B0604020202020204" pitchFamily="34" charset="0"/>
            </a:endParaRPr>
          </a:p>
          <a:p>
            <a:pPr marL="457200" indent="-457200" algn="l" rtl="0" eaLnBrk="1" fontAlgn="t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32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Gautami" panose="020B0502040204020203" pitchFamily="34" charset="0"/>
              </a:rPr>
              <a:t>Hardware and Software requirements</a:t>
            </a:r>
            <a:endParaRPr lang="en-IN" sz="3200" b="0" i="0" u="none" strike="noStrike" dirty="0">
              <a:effectLst/>
              <a:latin typeface="Arial" panose="020B0604020202020204" pitchFamily="34" charset="0"/>
            </a:endParaRPr>
          </a:p>
          <a:p>
            <a:pPr marL="457200" indent="-457200" algn="l" rtl="0" eaLnBrk="1" fontAlgn="t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32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Gautami" panose="020B0502040204020203" pitchFamily="34" charset="0"/>
              </a:rPr>
              <a:t>Results</a:t>
            </a:r>
            <a:endParaRPr lang="en-IN" sz="3200" b="0" i="0" u="none" strike="noStrike" dirty="0">
              <a:effectLst/>
              <a:latin typeface="Arial" panose="020B0604020202020204" pitchFamily="34" charset="0"/>
            </a:endParaRPr>
          </a:p>
          <a:p>
            <a:pPr marL="457200" indent="-457200" algn="l" rtl="0" eaLnBrk="1" fontAlgn="t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32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Gautami" panose="020B0502040204020203" pitchFamily="34" charset="0"/>
              </a:rPr>
              <a:t>Conclusion </a:t>
            </a:r>
          </a:p>
          <a:p>
            <a:pPr marL="457200" indent="-457200" algn="l" rtl="0" eaLnBrk="1" fontAlgn="t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32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Gautami" panose="020B0502040204020203" pitchFamily="34" charset="0"/>
              </a:rPr>
              <a:t>Future Scope </a:t>
            </a:r>
            <a:endParaRPr lang="en-IN" sz="3200" b="0" i="0" u="none" strike="noStrike" dirty="0">
              <a:effectLst/>
              <a:latin typeface="Arial" panose="020B0604020202020204" pitchFamily="34" charset="0"/>
            </a:endParaRPr>
          </a:p>
          <a:p>
            <a:endParaRPr lang="en-IN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EAC2F32-24D5-FDE9-EB0F-31C7733C95E6}"/>
              </a:ext>
            </a:extLst>
          </p:cNvPr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CA499C0-FC38-6642-1E16-B8CFFC9C9314}"/>
              </a:ext>
            </a:extLst>
          </p:cNvPr>
          <p:cNvSpPr txBox="1"/>
          <p:nvPr/>
        </p:nvSpPr>
        <p:spPr>
          <a:xfrm>
            <a:off x="2660072" y="221673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Contents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2660072" y="221673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Abstract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77C3D2D-A7F4-D1D6-7E6E-CFCBA565C150}"/>
              </a:ext>
            </a:extLst>
          </p:cNvPr>
          <p:cNvSpPr txBox="1"/>
          <p:nvPr/>
        </p:nvSpPr>
        <p:spPr>
          <a:xfrm>
            <a:off x="3352800" y="1206927"/>
            <a:ext cx="8168640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4800" dirty="0">
                <a:solidFill>
                  <a:schemeClr val="accent2">
                    <a:lumMod val="50000"/>
                  </a:schemeClr>
                </a:solidFill>
                <a:latin typeface="Bradley Hand ITC" panose="03070402050302030203" pitchFamily="66" charset="0"/>
              </a:rPr>
              <a:t>T</a:t>
            </a:r>
            <a:r>
              <a:rPr lang="en-IN" sz="2400" dirty="0">
                <a:solidFill>
                  <a:schemeClr val="accent2">
                    <a:lumMod val="50000"/>
                  </a:schemeClr>
                </a:solidFill>
                <a:latin typeface="Bradley Hand ITC" panose="03070402050302030203" pitchFamily="66" charset="0"/>
              </a:rPr>
              <a:t>he </a:t>
            </a:r>
            <a:r>
              <a:rPr lang="en-IN" sz="2400" b="1" dirty="0">
                <a:solidFill>
                  <a:schemeClr val="accent2">
                    <a:lumMod val="50000"/>
                  </a:schemeClr>
                </a:solidFill>
                <a:latin typeface="Bradley Hand ITC" panose="03070402050302030203" pitchFamily="66" charset="0"/>
              </a:rPr>
              <a:t>Google Maps Route Visualizer</a:t>
            </a:r>
            <a:r>
              <a:rPr lang="en-IN" sz="2400" dirty="0">
                <a:solidFill>
                  <a:schemeClr val="accent2">
                    <a:lumMod val="50000"/>
                  </a:schemeClr>
                </a:solidFill>
                <a:latin typeface="Bradley Hand ITC" panose="03070402050302030203" pitchFamily="66" charset="0"/>
              </a:rPr>
              <a:t> is a graph-based route-finding system designed to identify the shortest and most efficient path between two locations. The road network is represented as a </a:t>
            </a:r>
            <a:r>
              <a:rPr lang="en-IN" sz="2400" b="1" dirty="0">
                <a:solidFill>
                  <a:schemeClr val="accent2">
                    <a:lumMod val="50000"/>
                  </a:schemeClr>
                </a:solidFill>
                <a:latin typeface="Bradley Hand ITC" panose="03070402050302030203" pitchFamily="66" charset="0"/>
              </a:rPr>
              <a:t>weighted graph</a:t>
            </a:r>
            <a:r>
              <a:rPr lang="en-IN" sz="2400" dirty="0">
                <a:solidFill>
                  <a:schemeClr val="accent2">
                    <a:lumMod val="50000"/>
                  </a:schemeClr>
                </a:solidFill>
                <a:latin typeface="Bradley Hand ITC" panose="03070402050302030203" pitchFamily="66" charset="0"/>
              </a:rPr>
              <a:t>, where locations are vertices and roads are weighted edges based on distance or travel cost. </a:t>
            </a:r>
            <a:r>
              <a:rPr lang="en-IN" sz="2400" b="1" dirty="0">
                <a:solidFill>
                  <a:schemeClr val="accent2">
                    <a:lumMod val="50000"/>
                  </a:schemeClr>
                </a:solidFill>
                <a:latin typeface="Bradley Hand ITC" panose="03070402050302030203" pitchFamily="66" charset="0"/>
              </a:rPr>
              <a:t>Dijkstra’s Algorithm</a:t>
            </a:r>
            <a:r>
              <a:rPr lang="en-IN" sz="2400" dirty="0">
                <a:solidFill>
                  <a:schemeClr val="accent2">
                    <a:lumMod val="50000"/>
                  </a:schemeClr>
                </a:solidFill>
                <a:latin typeface="Bradley Hand ITC" panose="03070402050302030203" pitchFamily="66" charset="0"/>
              </a:rPr>
              <a:t> is used to calculate the shortest path, while </a:t>
            </a:r>
            <a:r>
              <a:rPr lang="en-IN" sz="2400" b="1" dirty="0">
                <a:solidFill>
                  <a:schemeClr val="accent2">
                    <a:lumMod val="50000"/>
                  </a:schemeClr>
                </a:solidFill>
                <a:latin typeface="Bradley Hand ITC" panose="03070402050302030203" pitchFamily="66" charset="0"/>
              </a:rPr>
              <a:t>A* Search</a:t>
            </a:r>
            <a:r>
              <a:rPr lang="en-IN" sz="2400" dirty="0">
                <a:solidFill>
                  <a:schemeClr val="accent2">
                    <a:lumMod val="50000"/>
                  </a:schemeClr>
                </a:solidFill>
                <a:latin typeface="Bradley Hand ITC" panose="03070402050302030203" pitchFamily="66" charset="0"/>
              </a:rPr>
              <a:t> can be used as an optimized alternative for faster destination-directed search. The system uses an </a:t>
            </a:r>
            <a:r>
              <a:rPr lang="en-IN" sz="2400" b="1" dirty="0">
                <a:solidFill>
                  <a:schemeClr val="accent2">
                    <a:lumMod val="50000"/>
                  </a:schemeClr>
                </a:solidFill>
                <a:latin typeface="Bradley Hand ITC" panose="03070402050302030203" pitchFamily="66" charset="0"/>
              </a:rPr>
              <a:t>adjacency list and priority queue</a:t>
            </a:r>
            <a:r>
              <a:rPr lang="en-IN" sz="2400" dirty="0">
                <a:solidFill>
                  <a:schemeClr val="accent2">
                    <a:lumMod val="50000"/>
                  </a:schemeClr>
                </a:solidFill>
                <a:latin typeface="Bradley Hand ITC" panose="03070402050302030203" pitchFamily="66" charset="0"/>
              </a:rPr>
              <a:t> for efficient graph processing and reconstructs the final route using parent-node information. The project demonstrates the practical application of </a:t>
            </a:r>
            <a:r>
              <a:rPr lang="en-IN" sz="2400" b="1" dirty="0">
                <a:solidFill>
                  <a:schemeClr val="accent2">
                    <a:lumMod val="50000"/>
                  </a:schemeClr>
                </a:solidFill>
                <a:latin typeface="Bradley Hand ITC" panose="03070402050302030203" pitchFamily="66" charset="0"/>
              </a:rPr>
              <a:t>Data Structures and Algorithms (DSA)</a:t>
            </a:r>
            <a:r>
              <a:rPr lang="en-IN" sz="2400" dirty="0">
                <a:solidFill>
                  <a:schemeClr val="accent2">
                    <a:lumMod val="50000"/>
                  </a:schemeClr>
                </a:solidFill>
                <a:latin typeface="Bradley Hand ITC" panose="03070402050302030203" pitchFamily="66" charset="0"/>
              </a:rPr>
              <a:t> in real-world navigation and route optimization.</a:t>
            </a:r>
          </a:p>
        </p:txBody>
      </p:sp>
    </p:spTree>
    <p:extLst>
      <p:ext uri="{BB962C8B-B14F-4D97-AF65-F5344CB8AC3E}">
        <p14:creationId xmlns:p14="http://schemas.microsoft.com/office/powerpoint/2010/main" val="16724225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93965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Introduction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74E4A2B-4C73-2811-F119-851E4C6012C2}"/>
              </a:ext>
            </a:extLst>
          </p:cNvPr>
          <p:cNvSpPr txBox="1"/>
          <p:nvPr/>
        </p:nvSpPr>
        <p:spPr>
          <a:xfrm>
            <a:off x="3838746" y="1157223"/>
            <a:ext cx="8539842" cy="42729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1400"/>
              </a:spcAft>
              <a:buFont typeface="Arial" panose="020B0604020202020204" pitchFamily="34" charset="0"/>
              <a:buChar char="•"/>
              <a:defRPr sz="1900">
                <a:solidFill>
                  <a:srgbClr val="1E293B"/>
                </a:solidFill>
              </a:defRPr>
            </a:pPr>
            <a:r>
              <a:rPr lang="en-US" sz="1900" dirty="0">
                <a:solidFill>
                  <a:schemeClr val="accent2">
                    <a:lumMod val="50000"/>
                  </a:schemeClr>
                </a:solidFill>
                <a:latin typeface="Viner Hand ITC" panose="03070502030502020203" pitchFamily="66" charset="0"/>
              </a:rPr>
              <a:t>Route planning is a shortest-path problem on a weighted graph.</a:t>
            </a:r>
          </a:p>
          <a:p>
            <a:pPr>
              <a:spcAft>
                <a:spcPts val="1400"/>
              </a:spcAft>
              <a:defRPr sz="1900">
                <a:solidFill>
                  <a:srgbClr val="1E293B"/>
                </a:solidFill>
              </a:defRPr>
            </a:pPr>
            <a:endParaRPr lang="en-US" sz="1900" dirty="0">
              <a:solidFill>
                <a:schemeClr val="accent2">
                  <a:lumMod val="50000"/>
                </a:schemeClr>
              </a:solidFill>
              <a:latin typeface="Viner Hand ITC" panose="03070502030502020203" pitchFamily="66" charset="0"/>
            </a:endParaRPr>
          </a:p>
          <a:p>
            <a:pPr marL="342900" indent="-342900">
              <a:spcAft>
                <a:spcPts val="1400"/>
              </a:spcAft>
              <a:buFont typeface="Arial" panose="020B0604020202020204" pitchFamily="34" charset="0"/>
              <a:buChar char="•"/>
              <a:defRPr sz="1900">
                <a:solidFill>
                  <a:srgbClr val="1E293B"/>
                </a:solidFill>
              </a:defRPr>
            </a:pPr>
            <a:r>
              <a:rPr lang="en-US" sz="1900" dirty="0">
                <a:solidFill>
                  <a:schemeClr val="accent2">
                    <a:lumMod val="50000"/>
                  </a:schemeClr>
                </a:solidFill>
                <a:latin typeface="Viner Hand ITC" panose="03070502030502020203" pitchFamily="66" charset="0"/>
              </a:rPr>
              <a:t>  Locations/intersections are represented as vertices (nodes).</a:t>
            </a:r>
          </a:p>
          <a:p>
            <a:pPr>
              <a:spcAft>
                <a:spcPts val="1400"/>
              </a:spcAft>
              <a:defRPr sz="1900">
                <a:solidFill>
                  <a:srgbClr val="1E293B"/>
                </a:solidFill>
              </a:defRPr>
            </a:pPr>
            <a:endParaRPr lang="en-US" sz="1900" dirty="0">
              <a:solidFill>
                <a:schemeClr val="accent2">
                  <a:lumMod val="50000"/>
                </a:schemeClr>
              </a:solidFill>
              <a:latin typeface="Viner Hand ITC" panose="03070502030502020203" pitchFamily="66" charset="0"/>
            </a:endParaRPr>
          </a:p>
          <a:p>
            <a:pPr marL="342900" indent="-342900">
              <a:spcAft>
                <a:spcPts val="1400"/>
              </a:spcAft>
              <a:buFont typeface="Arial" panose="020B0604020202020204" pitchFamily="34" charset="0"/>
              <a:buChar char="•"/>
              <a:defRPr sz="1900">
                <a:solidFill>
                  <a:srgbClr val="1E293B"/>
                </a:solidFill>
              </a:defRPr>
            </a:pPr>
            <a:r>
              <a:rPr lang="en-US" sz="1900" dirty="0">
                <a:solidFill>
                  <a:schemeClr val="accent2">
                    <a:lumMod val="50000"/>
                  </a:schemeClr>
                </a:solidFill>
                <a:latin typeface="Viner Hand ITC" panose="03070502030502020203" pitchFamily="66" charset="0"/>
              </a:rPr>
              <a:t> Roads are represented as weighted edges using distance or travel costs </a:t>
            </a:r>
          </a:p>
          <a:p>
            <a:pPr>
              <a:spcAft>
                <a:spcPts val="1400"/>
              </a:spcAft>
              <a:defRPr sz="1900">
                <a:solidFill>
                  <a:srgbClr val="1E293B"/>
                </a:solidFill>
              </a:defRPr>
            </a:pPr>
            <a:endParaRPr lang="en-US" sz="1900" dirty="0">
              <a:solidFill>
                <a:schemeClr val="accent2">
                  <a:lumMod val="50000"/>
                </a:schemeClr>
              </a:solidFill>
              <a:latin typeface="Viner Hand ITC" panose="03070502030502020203" pitchFamily="66" charset="0"/>
            </a:endParaRPr>
          </a:p>
          <a:p>
            <a:pPr marL="342900" indent="-342900">
              <a:spcAft>
                <a:spcPts val="1400"/>
              </a:spcAft>
              <a:buFont typeface="Arial" panose="020B0604020202020204" pitchFamily="34" charset="0"/>
              <a:buChar char="•"/>
              <a:defRPr sz="1900">
                <a:solidFill>
                  <a:srgbClr val="1E293B"/>
                </a:solidFill>
              </a:defRPr>
            </a:pPr>
            <a:r>
              <a:rPr lang="en-US" sz="1900" dirty="0">
                <a:solidFill>
                  <a:schemeClr val="accent2">
                    <a:lumMod val="50000"/>
                  </a:schemeClr>
                </a:solidFill>
                <a:latin typeface="Viner Hand ITC" panose="03070502030502020203" pitchFamily="66" charset="0"/>
              </a:rPr>
              <a:t>The system finds an efficient route from a chosen source to a destination.</a:t>
            </a:r>
            <a:br>
              <a:rPr lang="en-US" sz="1900" dirty="0">
                <a:solidFill>
                  <a:schemeClr val="accent2">
                    <a:lumMod val="50000"/>
                  </a:schemeClr>
                </a:solidFill>
                <a:latin typeface="Viner Hand ITC" panose="03070502030502020203" pitchFamily="66" charset="0"/>
              </a:rPr>
            </a:br>
            <a:endParaRPr lang="en-US" sz="1900" dirty="0">
              <a:solidFill>
                <a:schemeClr val="accent2">
                  <a:lumMod val="50000"/>
                </a:schemeClr>
              </a:solidFill>
              <a:latin typeface="Viner Hand ITC" panose="03070502030502020203" pitchFamily="66" charset="0"/>
            </a:endParaRPr>
          </a:p>
          <a:p>
            <a:pPr marL="342900" indent="-342900">
              <a:spcAft>
                <a:spcPts val="1400"/>
              </a:spcAft>
              <a:buFont typeface="Arial" panose="020B0604020202020204" pitchFamily="34" charset="0"/>
              <a:buChar char="•"/>
              <a:defRPr sz="1900">
                <a:solidFill>
                  <a:srgbClr val="1E293B"/>
                </a:solidFill>
              </a:defRPr>
            </a:pPr>
            <a:r>
              <a:rPr lang="en-US" sz="1900" dirty="0">
                <a:solidFill>
                  <a:schemeClr val="accent2">
                    <a:lumMod val="50000"/>
                  </a:schemeClr>
                </a:solidFill>
                <a:latin typeface="Viner Hand ITC" panose="03070502030502020203" pitchFamily="66" charset="0"/>
              </a:rPr>
              <a:t>Dijkstra’s algorithm is suitable when edge weights are non-negative. cite turn0search1 turn 0search3</a:t>
            </a:r>
            <a:endParaRPr lang="en-IN" dirty="0">
              <a:solidFill>
                <a:schemeClr val="accent2">
                  <a:lumMod val="50000"/>
                </a:schemeClr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CD09C9D-5808-56DF-1032-BA81A293E9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03" y="3023118"/>
            <a:ext cx="3645328" cy="318721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93965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Literature Survey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876B0BD-2BB9-6428-9732-5E0328BB40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8511552"/>
              </p:ext>
            </p:extLst>
          </p:nvPr>
        </p:nvGraphicFramePr>
        <p:xfrm>
          <a:off x="2976880" y="1099128"/>
          <a:ext cx="8991600" cy="566759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47900">
                  <a:extLst>
                    <a:ext uri="{9D8B030D-6E8A-4147-A177-3AD203B41FA5}">
                      <a16:colId xmlns:a16="http://schemas.microsoft.com/office/drawing/2014/main" val="2173138451"/>
                    </a:ext>
                  </a:extLst>
                </a:gridCol>
                <a:gridCol w="2462957">
                  <a:extLst>
                    <a:ext uri="{9D8B030D-6E8A-4147-A177-3AD203B41FA5}">
                      <a16:colId xmlns:a16="http://schemas.microsoft.com/office/drawing/2014/main" val="877942733"/>
                    </a:ext>
                  </a:extLst>
                </a:gridCol>
                <a:gridCol w="2032843">
                  <a:extLst>
                    <a:ext uri="{9D8B030D-6E8A-4147-A177-3AD203B41FA5}">
                      <a16:colId xmlns:a16="http://schemas.microsoft.com/office/drawing/2014/main" val="3157969541"/>
                    </a:ext>
                  </a:extLst>
                </a:gridCol>
                <a:gridCol w="2247900">
                  <a:extLst>
                    <a:ext uri="{9D8B030D-6E8A-4147-A177-3AD203B41FA5}">
                      <a16:colId xmlns:a16="http://schemas.microsoft.com/office/drawing/2014/main" val="1384252544"/>
                    </a:ext>
                  </a:extLst>
                </a:gridCol>
              </a:tblGrid>
              <a:tr h="4553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Study / Author</a:t>
                      </a:r>
                    </a:p>
                  </a:txBody>
                  <a:tcPr marL="70183" marR="70183" marT="35091" marB="3509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Focus</a:t>
                      </a:r>
                    </a:p>
                  </a:txBody>
                  <a:tcPr marL="70183" marR="70183" marT="35091" marB="3509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Key Finding</a:t>
                      </a:r>
                    </a:p>
                  </a:txBody>
                  <a:tcPr marL="70183" marR="70183" marT="35091" marB="3509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Relevance to Our Project</a:t>
                      </a:r>
                    </a:p>
                  </a:txBody>
                  <a:tcPr marL="70183" marR="70183" marT="35091" marB="35091" anchor="ctr"/>
                </a:tc>
                <a:extLst>
                  <a:ext uri="{0D108BD9-81ED-4DB2-BD59-A6C34878D82A}">
                    <a16:rowId xmlns:a16="http://schemas.microsoft.com/office/drawing/2014/main" val="2237104778"/>
                  </a:ext>
                </a:extLst>
              </a:tr>
              <a:tr h="13030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Dijkstra (1959)</a:t>
                      </a:r>
                    </a:p>
                  </a:txBody>
                  <a:tcPr marL="70183" marR="70183" marT="35091" marB="3509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Shortest-path algorithm</a:t>
                      </a:r>
                    </a:p>
                  </a:txBody>
                  <a:tcPr marL="70183" marR="70183" marT="35091" marB="3509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Introduced an efficient method for finding the shortest path in a graph with non-negative edge weights.</a:t>
                      </a:r>
                    </a:p>
                  </a:txBody>
                  <a:tcPr marL="70183" marR="70183" marT="35091" marB="3509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Forms the core algorithm of our route-finding system.</a:t>
                      </a:r>
                    </a:p>
                  </a:txBody>
                  <a:tcPr marL="70183" marR="70183" marT="35091" marB="35091" anchor="ctr"/>
                </a:tc>
                <a:extLst>
                  <a:ext uri="{0D108BD9-81ED-4DB2-BD59-A6C34878D82A}">
                    <a16:rowId xmlns:a16="http://schemas.microsoft.com/office/drawing/2014/main" val="2852156358"/>
                  </a:ext>
                </a:extLst>
              </a:tr>
              <a:tr h="13030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Hart, Nilsson &amp; Raphael (1968)</a:t>
                      </a:r>
                    </a:p>
                  </a:txBody>
                  <a:tcPr marL="70183" marR="70183" marT="35091" marB="3509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A* Search</a:t>
                      </a:r>
                    </a:p>
                  </a:txBody>
                  <a:tcPr marL="70183" marR="70183" marT="35091" marB="3509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Proposed A* search using path cost and a heuristic to guide the search toward the destination.</a:t>
                      </a:r>
                    </a:p>
                  </a:txBody>
                  <a:tcPr marL="70183" marR="70183" marT="35091" marB="3509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Provides a faster alternative to Dijkstra for map-based navigation.</a:t>
                      </a:r>
                    </a:p>
                  </a:txBody>
                  <a:tcPr marL="70183" marR="70183" marT="35091" marB="35091" anchor="ctr"/>
                </a:tc>
                <a:extLst>
                  <a:ext uri="{0D108BD9-81ED-4DB2-BD59-A6C34878D82A}">
                    <a16:rowId xmlns:a16="http://schemas.microsoft.com/office/drawing/2014/main" val="2832495380"/>
                  </a:ext>
                </a:extLst>
              </a:tr>
              <a:tr h="13030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Zeng &amp; Church (2009)</a:t>
                      </a:r>
                    </a:p>
                  </a:txBody>
                  <a:tcPr marL="70183" marR="70183" marT="35091" marB="3509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Shortest-path algorithms for road networks</a:t>
                      </a:r>
                    </a:p>
                  </a:txBody>
                  <a:tcPr marL="70183" marR="70183" marT="35091" marB="3509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Studied shortest-path computation specifically in transportation networks.</a:t>
                      </a:r>
                    </a:p>
                  </a:txBody>
                  <a:tcPr marL="70183" marR="70183" marT="35091" marB="3509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Supports the use of graph-based routing for road networks.</a:t>
                      </a:r>
                    </a:p>
                  </a:txBody>
                  <a:tcPr marL="70183" marR="70183" marT="35091" marB="35091" anchor="ctr"/>
                </a:tc>
                <a:extLst>
                  <a:ext uri="{0D108BD9-81ED-4DB2-BD59-A6C34878D82A}">
                    <a16:rowId xmlns:a16="http://schemas.microsoft.com/office/drawing/2014/main" val="1683271323"/>
                  </a:ext>
                </a:extLst>
              </a:tr>
              <a:tr h="13030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Bast et al. (2016)</a:t>
                      </a:r>
                    </a:p>
                  </a:txBody>
                  <a:tcPr marL="70183" marR="70183" marT="35091" marB="3509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Route planning in transportation networks</a:t>
                      </a:r>
                    </a:p>
                  </a:txBody>
                  <a:tcPr marL="70183" marR="70183" marT="35091" marB="3509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Reviewed advanced techniques for extremely fast route planning on large road networks.</a:t>
                      </a:r>
                    </a:p>
                  </a:txBody>
                  <a:tcPr marL="70183" marR="70183" marT="35091" marB="3509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Shows how basic shortest-path methods can be extended for large-scale navigation systems.</a:t>
                      </a:r>
                    </a:p>
                  </a:txBody>
                  <a:tcPr marL="70183" marR="70183" marT="35091" marB="35091" anchor="ctr"/>
                </a:tc>
                <a:extLst>
                  <a:ext uri="{0D108BD9-81ED-4DB2-BD59-A6C34878D82A}">
                    <a16:rowId xmlns:a16="http://schemas.microsoft.com/office/drawing/2014/main" val="105377423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2660072" y="221673"/>
            <a:ext cx="6723625" cy="65579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2660072" y="292694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Problem Statement and Objectives</a:t>
            </a:r>
          </a:p>
        </p:txBody>
      </p:sp>
      <p:sp>
        <p:nvSpPr>
          <p:cNvPr id="5" name="Rounded Rectangle 2">
            <a:extLst>
              <a:ext uri="{FF2B5EF4-FFF2-40B4-BE49-F238E27FC236}">
                <a16:creationId xmlns:a16="http://schemas.microsoft.com/office/drawing/2014/main" id="{914647FD-97FC-3753-7E16-419FAD74244D}"/>
              </a:ext>
            </a:extLst>
          </p:cNvPr>
          <p:cNvSpPr/>
          <p:nvPr/>
        </p:nvSpPr>
        <p:spPr>
          <a:xfrm>
            <a:off x="2991866" y="1717040"/>
            <a:ext cx="3734054" cy="1873929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Efficiently finding the shortest path between a source and destination when there are multiple possible routes, different road distances, and a large number of locations. The system must process this graph quickly and return the optimal route</a:t>
            </a:r>
            <a:endParaRPr sz="1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7" name="Rounded Rectangle 10">
            <a:extLst>
              <a:ext uri="{FF2B5EF4-FFF2-40B4-BE49-F238E27FC236}">
                <a16:creationId xmlns:a16="http://schemas.microsoft.com/office/drawing/2014/main" id="{84617DBB-759C-DD99-3A6D-C76A3AE9D13E}"/>
              </a:ext>
            </a:extLst>
          </p:cNvPr>
          <p:cNvSpPr/>
          <p:nvPr/>
        </p:nvSpPr>
        <p:spPr>
          <a:xfrm>
            <a:off x="2460971" y="4267201"/>
            <a:ext cx="4436808" cy="182880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b="1" dirty="0">
                <a:solidFill>
                  <a:schemeClr val="tx1"/>
                </a:solidFill>
              </a:rPr>
              <a:t>Source Location</a:t>
            </a:r>
            <a:r>
              <a:rPr lang="en-IN" sz="1400" dirty="0">
                <a:solidFill>
                  <a:schemeClr val="tx1"/>
                </a:solidFill>
              </a:rPr>
              <a:t> – The starting point.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b="1" dirty="0">
                <a:solidFill>
                  <a:schemeClr val="tx1"/>
                </a:solidFill>
              </a:rPr>
              <a:t>Destination Location</a:t>
            </a:r>
            <a:r>
              <a:rPr lang="en-IN" sz="1400" dirty="0">
                <a:solidFill>
                  <a:schemeClr val="tx1"/>
                </a:solidFill>
              </a:rPr>
              <a:t> – Where the user wants to go.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b="1" dirty="0">
                <a:solidFill>
                  <a:schemeClr val="tx1"/>
                </a:solidFill>
              </a:rPr>
              <a:t>Road Network</a:t>
            </a:r>
            <a:r>
              <a:rPr lang="en-IN" sz="1400" dirty="0">
                <a:solidFill>
                  <a:schemeClr val="tx1"/>
                </a:solidFill>
              </a:rPr>
              <a:t> – The locations (nodes) and roads connecting them (edges).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b="1" dirty="0">
                <a:solidFill>
                  <a:schemeClr val="tx1"/>
                </a:solidFill>
              </a:rPr>
              <a:t>Distance/Cost of Roads</a:t>
            </a:r>
            <a:r>
              <a:rPr lang="en-IN" sz="1400" dirty="0">
                <a:solidFill>
                  <a:schemeClr val="tx1"/>
                </a:solidFill>
              </a:rPr>
              <a:t> – The weight assigned to each road.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B2D49FD-D8D3-A97E-FC73-9C8851C7DCAF}"/>
              </a:ext>
            </a:extLst>
          </p:cNvPr>
          <p:cNvSpPr txBox="1"/>
          <p:nvPr/>
        </p:nvSpPr>
        <p:spPr>
          <a:xfrm>
            <a:off x="3948318" y="1330047"/>
            <a:ext cx="20156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F2037"/>
                </a:solidFill>
              </a:defRPr>
            </a:pPr>
            <a:r>
              <a:rPr lang="en-IN" sz="1800" dirty="0">
                <a:latin typeface="Bodoni MT Black" panose="02070A03080606020203" pitchFamily="18" charset="0"/>
              </a:rPr>
              <a:t>The Challenge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B0C01A4-5C11-7BD3-A3AC-47ED6855F9AE}"/>
              </a:ext>
            </a:extLst>
          </p:cNvPr>
          <p:cNvSpPr txBox="1"/>
          <p:nvPr/>
        </p:nvSpPr>
        <p:spPr>
          <a:xfrm flipH="1">
            <a:off x="4354234" y="3824964"/>
            <a:ext cx="1009318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F2037"/>
                </a:solidFill>
              </a:defRPr>
            </a:pPr>
            <a:r>
              <a:rPr dirty="0">
                <a:latin typeface="Bodoni MT Black" panose="02070A03080606020203" pitchFamily="18" charset="0"/>
              </a:rPr>
              <a:t>Input</a:t>
            </a:r>
          </a:p>
        </p:txBody>
      </p:sp>
      <p:sp>
        <p:nvSpPr>
          <p:cNvPr id="13" name="Rounded Rectangle 6">
            <a:extLst>
              <a:ext uri="{FF2B5EF4-FFF2-40B4-BE49-F238E27FC236}">
                <a16:creationId xmlns:a16="http://schemas.microsoft.com/office/drawing/2014/main" id="{06707DF7-F47E-D941-83F2-1B1579C15987}"/>
              </a:ext>
            </a:extLst>
          </p:cNvPr>
          <p:cNvSpPr/>
          <p:nvPr/>
        </p:nvSpPr>
        <p:spPr>
          <a:xfrm>
            <a:off x="7266715" y="1832509"/>
            <a:ext cx="4530423" cy="1565733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To efficiently calculate and visualize the shortest route between two locations using graph algorithms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23" name="Rounded Rectangle 14">
            <a:extLst>
              <a:ext uri="{FF2B5EF4-FFF2-40B4-BE49-F238E27FC236}">
                <a16:creationId xmlns:a16="http://schemas.microsoft.com/office/drawing/2014/main" id="{52C32833-9883-A405-1098-1A0E3A4EBE28}"/>
              </a:ext>
            </a:extLst>
          </p:cNvPr>
          <p:cNvSpPr/>
          <p:nvPr/>
        </p:nvSpPr>
        <p:spPr>
          <a:xfrm>
            <a:off x="7592635" y="4267201"/>
            <a:ext cx="4038600" cy="182880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>
                <a:solidFill>
                  <a:schemeClr val="tx1"/>
                </a:solidFill>
              </a:rPr>
              <a:t>The </a:t>
            </a:r>
            <a:r>
              <a:rPr lang="en-IN" sz="1600" b="1" dirty="0">
                <a:solidFill>
                  <a:schemeClr val="tx1"/>
                </a:solidFill>
              </a:rPr>
              <a:t>output</a:t>
            </a:r>
            <a:r>
              <a:rPr lang="en-IN" sz="1600" dirty="0">
                <a:solidFill>
                  <a:schemeClr val="tx1"/>
                </a:solidFill>
              </a:rPr>
              <a:t> of the Google Maps Route Visualizer is the </a:t>
            </a:r>
            <a:r>
              <a:rPr lang="en-IN" sz="1600" b="1" dirty="0">
                <a:solidFill>
                  <a:schemeClr val="tx1"/>
                </a:solidFill>
              </a:rPr>
              <a:t>shortest/optimal route between the selected source and destination</a:t>
            </a:r>
            <a:r>
              <a:rPr lang="en-IN" sz="1600" dirty="0">
                <a:solidFill>
                  <a:schemeClr val="tx1"/>
                </a:solidFill>
              </a:rPr>
              <a:t>, along with its total distance or cost.</a:t>
            </a:r>
            <a:endParaRPr sz="1600" dirty="0">
              <a:solidFill>
                <a:schemeClr val="tx1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4C97796-B4A8-997D-9110-04649C7E1F38}"/>
              </a:ext>
            </a:extLst>
          </p:cNvPr>
          <p:cNvSpPr txBox="1"/>
          <p:nvPr/>
        </p:nvSpPr>
        <p:spPr>
          <a:xfrm>
            <a:off x="8956492" y="1450002"/>
            <a:ext cx="1444236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F2037"/>
                </a:solidFill>
              </a:defRPr>
            </a:pPr>
            <a:r>
              <a:rPr dirty="0">
                <a:latin typeface="Bodoni MT Black" panose="02070A03080606020203" pitchFamily="18" charset="0"/>
              </a:rPr>
              <a:t>Th</a:t>
            </a:r>
            <a:r>
              <a:rPr lang="en-IN" dirty="0">
                <a:latin typeface="Bodoni MT" panose="02070603080606020203" pitchFamily="18" charset="0"/>
              </a:rPr>
              <a:t>e  </a:t>
            </a:r>
            <a:r>
              <a:rPr dirty="0">
                <a:latin typeface=" bodoni mt black"/>
              </a:rPr>
              <a:t>Goal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9B9FA7F-B377-4099-3C79-D267BAD93E37}"/>
              </a:ext>
            </a:extLst>
          </p:cNvPr>
          <p:cNvSpPr txBox="1"/>
          <p:nvPr/>
        </p:nvSpPr>
        <p:spPr>
          <a:xfrm>
            <a:off x="9249862" y="3863819"/>
            <a:ext cx="1150866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F2037"/>
                </a:solidFill>
              </a:defRPr>
            </a:pPr>
            <a:r>
              <a:rPr lang="en-IN" dirty="0">
                <a:latin typeface="Bodoni MT Black" panose="02070A03080606020203" pitchFamily="18" charset="0"/>
              </a:rPr>
              <a:t>Output</a:t>
            </a:r>
            <a:endParaRPr dirty="0">
              <a:latin typeface="Bodoni MT Black" panose="02070A030806060202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10266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93965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Flow Chart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AF7D2D1-AC57-DBA7-7A0B-25D965D3E2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6989" y="975360"/>
            <a:ext cx="5626114" cy="547342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93965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kern="0" dirty="0">
                <a:solidFill>
                  <a:schemeClr val="bg1"/>
                </a:solidFill>
                <a:effectLst/>
                <a:ea typeface="Times New Roman" panose="02020603050405020304" pitchFamily="18" charset="0"/>
              </a:rPr>
              <a:t>Results</a:t>
            </a:r>
            <a:endParaRPr lang="en-US" sz="3200" b="1"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BFD705E-6D65-23BB-F7CB-2D3C01E86A39}"/>
              </a:ext>
            </a:extLst>
          </p:cNvPr>
          <p:cNvSpPr txBox="1"/>
          <p:nvPr/>
        </p:nvSpPr>
        <p:spPr>
          <a:xfrm>
            <a:off x="3151446" y="951398"/>
            <a:ext cx="8684954" cy="49552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dirty="0">
                <a:solidFill>
                  <a:schemeClr val="accent2">
                    <a:lumMod val="50000"/>
                  </a:schemeClr>
                </a:solidFill>
                <a:latin typeface="Comic Sans MS" panose="030F0702030302020204" pitchFamily="66" charset="0"/>
              </a:rPr>
              <a:t>T</a:t>
            </a:r>
            <a:r>
              <a:rPr lang="en-IN" dirty="0">
                <a:solidFill>
                  <a:schemeClr val="accent2">
                    <a:lumMod val="50000"/>
                  </a:schemeClr>
                </a:solidFill>
                <a:latin typeface="Comic Sans MS" panose="030F0702030302020204" pitchFamily="66" charset="0"/>
              </a:rPr>
              <a:t>he </a:t>
            </a:r>
            <a:r>
              <a:rPr lang="en-IN" b="1" dirty="0">
                <a:solidFill>
                  <a:schemeClr val="accent2">
                    <a:lumMod val="50000"/>
                  </a:schemeClr>
                </a:solidFill>
                <a:latin typeface="Comic Sans MS" panose="030F0702030302020204" pitchFamily="66" charset="0"/>
              </a:rPr>
              <a:t>Google Maps Route Visualizer</a:t>
            </a:r>
            <a:r>
              <a:rPr lang="en-IN" dirty="0">
                <a:solidFill>
                  <a:schemeClr val="accent2">
                    <a:lumMod val="50000"/>
                  </a:schemeClr>
                </a:solidFill>
                <a:latin typeface="Comic Sans MS" panose="030F0702030302020204" pitchFamily="66" charset="0"/>
              </a:rPr>
              <a:t> successfully finds the shortest route between a given source and destination using a </a:t>
            </a:r>
            <a:r>
              <a:rPr lang="en-IN" b="1" dirty="0">
                <a:solidFill>
                  <a:schemeClr val="accent2">
                    <a:lumMod val="50000"/>
                  </a:schemeClr>
                </a:solidFill>
                <a:latin typeface="Comic Sans MS" panose="030F0702030302020204" pitchFamily="66" charset="0"/>
              </a:rPr>
              <a:t>weighted graph and Dijkstra’s algorithm</a:t>
            </a:r>
            <a:r>
              <a:rPr lang="en-IN" dirty="0">
                <a:solidFill>
                  <a:schemeClr val="accent2">
                    <a:lumMod val="50000"/>
                  </a:schemeClr>
                </a:solidFill>
                <a:latin typeface="Comic Sans MS" panose="030F0702030302020204" pitchFamily="66" charset="0"/>
              </a:rPr>
              <a:t>.</a:t>
            </a:r>
          </a:p>
          <a:p>
            <a:pPr>
              <a:buNone/>
            </a:pPr>
            <a:r>
              <a:rPr lang="en-IN" b="1" dirty="0">
                <a:solidFill>
                  <a:schemeClr val="accent2">
                    <a:lumMod val="50000"/>
                  </a:schemeClr>
                </a:solidFill>
                <a:latin typeface="Comic Sans MS" panose="030F0702030302020204" pitchFamily="66" charset="0"/>
              </a:rPr>
              <a:t>Example Result</a:t>
            </a:r>
          </a:p>
          <a:p>
            <a:pPr>
              <a:buNone/>
            </a:pPr>
            <a:r>
              <a:rPr lang="en-IN" b="1" dirty="0">
                <a:solidFill>
                  <a:schemeClr val="accent2">
                    <a:lumMod val="50000"/>
                  </a:schemeClr>
                </a:solidFill>
                <a:latin typeface="Comic Sans MS" panose="030F0702030302020204" pitchFamily="66" charset="0"/>
              </a:rPr>
              <a:t>Input:</a:t>
            </a:r>
            <a:endParaRPr lang="en-IN" dirty="0">
              <a:solidFill>
                <a:schemeClr val="accent2">
                  <a:lumMod val="50000"/>
                </a:schemeClr>
              </a:solidFill>
              <a:latin typeface="Comic Sans MS" panose="030F0702030302020204" pitchFamily="66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accent2">
                    <a:lumMod val="50000"/>
                  </a:schemeClr>
                </a:solidFill>
                <a:latin typeface="Comic Sans MS" panose="030F0702030302020204" pitchFamily="66" charset="0"/>
              </a:rPr>
              <a:t>Source: </a:t>
            </a:r>
            <a:r>
              <a:rPr lang="en-IN" b="1" dirty="0">
                <a:solidFill>
                  <a:schemeClr val="accent2">
                    <a:lumMod val="50000"/>
                  </a:schemeClr>
                </a:solidFill>
                <a:latin typeface="Comic Sans MS" panose="030F0702030302020204" pitchFamily="66" charset="0"/>
              </a:rPr>
              <a:t>A</a:t>
            </a:r>
            <a:r>
              <a:rPr lang="en-IN" dirty="0">
                <a:solidFill>
                  <a:schemeClr val="accent2">
                    <a:lumMod val="50000"/>
                  </a:schemeClr>
                </a:solidFill>
                <a:latin typeface="Comic Sans MS" panose="030F0702030302020204" pitchFamily="66" charset="0"/>
              </a:rPr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accent2">
                    <a:lumMod val="50000"/>
                  </a:schemeClr>
                </a:solidFill>
                <a:latin typeface="Comic Sans MS" panose="030F0702030302020204" pitchFamily="66" charset="0"/>
              </a:rPr>
              <a:t>Destination: </a:t>
            </a:r>
            <a:r>
              <a:rPr lang="en-IN" b="1" dirty="0">
                <a:solidFill>
                  <a:schemeClr val="accent2">
                    <a:lumMod val="50000"/>
                  </a:schemeClr>
                </a:solidFill>
                <a:latin typeface="Comic Sans MS" panose="030F0702030302020204" pitchFamily="66" charset="0"/>
              </a:rPr>
              <a:t>F</a:t>
            </a:r>
            <a:r>
              <a:rPr lang="en-IN" dirty="0">
                <a:solidFill>
                  <a:schemeClr val="accent2">
                    <a:lumMod val="50000"/>
                  </a:schemeClr>
                </a:solidFill>
                <a:latin typeface="Comic Sans MS" panose="030F0702030302020204" pitchFamily="66" charset="0"/>
              </a:rPr>
              <a:t> </a:t>
            </a:r>
          </a:p>
          <a:p>
            <a:pPr>
              <a:buNone/>
            </a:pPr>
            <a:r>
              <a:rPr lang="en-IN" b="1" dirty="0">
                <a:solidFill>
                  <a:schemeClr val="accent2">
                    <a:lumMod val="50000"/>
                  </a:schemeClr>
                </a:solidFill>
                <a:latin typeface="Comic Sans MS" panose="030F0702030302020204" pitchFamily="66" charset="0"/>
              </a:rPr>
              <a:t>Available routes:</a:t>
            </a:r>
            <a:endParaRPr lang="en-IN" dirty="0">
              <a:solidFill>
                <a:schemeClr val="accent2">
                  <a:lumMod val="50000"/>
                </a:schemeClr>
              </a:solidFill>
              <a:latin typeface="Comic Sans MS" panose="030F0702030302020204" pitchFamily="66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accent2">
                    <a:lumMod val="50000"/>
                  </a:schemeClr>
                </a:solidFill>
                <a:latin typeface="Comic Sans MS" panose="030F0702030302020204" pitchFamily="66" charset="0"/>
              </a:rPr>
              <a:t>A → B → D → F = 4 + 5 + 6 = </a:t>
            </a:r>
            <a:r>
              <a:rPr lang="en-IN" b="1" dirty="0">
                <a:solidFill>
                  <a:schemeClr val="accent2">
                    <a:lumMod val="50000"/>
                  </a:schemeClr>
                </a:solidFill>
                <a:latin typeface="Comic Sans MS" panose="030F0702030302020204" pitchFamily="66" charset="0"/>
              </a:rPr>
              <a:t>15</a:t>
            </a:r>
            <a:r>
              <a:rPr lang="en-IN" dirty="0">
                <a:solidFill>
                  <a:schemeClr val="accent2">
                    <a:lumMod val="50000"/>
                  </a:schemeClr>
                </a:solidFill>
                <a:latin typeface="Comic Sans MS" panose="030F0702030302020204" pitchFamily="66" charset="0"/>
              </a:rPr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accent2">
                    <a:lumMod val="50000"/>
                  </a:schemeClr>
                </a:solidFill>
                <a:latin typeface="Comic Sans MS" panose="030F0702030302020204" pitchFamily="66" charset="0"/>
              </a:rPr>
              <a:t>A → C → D → F = 2 + 8 + 6 = </a:t>
            </a:r>
            <a:r>
              <a:rPr lang="en-IN" b="1" dirty="0">
                <a:solidFill>
                  <a:schemeClr val="accent2">
                    <a:lumMod val="50000"/>
                  </a:schemeClr>
                </a:solidFill>
                <a:latin typeface="Comic Sans MS" panose="030F0702030302020204" pitchFamily="66" charset="0"/>
              </a:rPr>
              <a:t>16</a:t>
            </a:r>
            <a:r>
              <a:rPr lang="en-IN" dirty="0">
                <a:solidFill>
                  <a:schemeClr val="accent2">
                    <a:lumMod val="50000"/>
                  </a:schemeClr>
                </a:solidFill>
                <a:latin typeface="Comic Sans MS" panose="030F0702030302020204" pitchFamily="66" charset="0"/>
              </a:rPr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accent2">
                    <a:lumMod val="50000"/>
                  </a:schemeClr>
                </a:solidFill>
                <a:latin typeface="Comic Sans MS" panose="030F0702030302020204" pitchFamily="66" charset="0"/>
              </a:rPr>
              <a:t>A → C → E → F = 2 + 3 + 4 = </a:t>
            </a:r>
            <a:r>
              <a:rPr lang="en-IN" b="1" dirty="0">
                <a:solidFill>
                  <a:schemeClr val="accent2">
                    <a:lumMod val="50000"/>
                  </a:schemeClr>
                </a:solidFill>
                <a:latin typeface="Comic Sans MS" panose="030F0702030302020204" pitchFamily="66" charset="0"/>
              </a:rPr>
              <a:t>9</a:t>
            </a:r>
            <a:r>
              <a:rPr lang="en-IN" dirty="0">
                <a:solidFill>
                  <a:schemeClr val="accent2">
                    <a:lumMod val="50000"/>
                  </a:schemeClr>
                </a:solidFill>
                <a:latin typeface="Comic Sans MS" panose="030F0702030302020204" pitchFamily="66" charset="0"/>
              </a:rPr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chemeClr val="accent2">
                    <a:lumMod val="50000"/>
                  </a:schemeClr>
                </a:solidFill>
                <a:latin typeface="Comic Sans MS" panose="030F0702030302020204" pitchFamily="66" charset="0"/>
              </a:rPr>
              <a:t>Final Output</a:t>
            </a:r>
          </a:p>
          <a:p>
            <a:pPr rtl="0">
              <a:buNone/>
            </a:pPr>
            <a:r>
              <a:rPr lang="en-IN" dirty="0">
                <a:solidFill>
                  <a:schemeClr val="accent2">
                    <a:lumMod val="50000"/>
                  </a:schemeClr>
                </a:solidFill>
                <a:latin typeface="Comic Sans MS" panose="030F0702030302020204" pitchFamily="66" charset="0"/>
              </a:rPr>
              <a:t>Source          : A</a:t>
            </a:r>
          </a:p>
          <a:p>
            <a:pPr rtl="0">
              <a:buNone/>
            </a:pPr>
            <a:r>
              <a:rPr lang="en-IN" dirty="0">
                <a:solidFill>
                  <a:schemeClr val="accent2">
                    <a:lumMod val="50000"/>
                  </a:schemeClr>
                </a:solidFill>
                <a:latin typeface="Comic Sans MS" panose="030F0702030302020204" pitchFamily="66" charset="0"/>
              </a:rPr>
              <a:t>Destination     : F</a:t>
            </a:r>
          </a:p>
          <a:p>
            <a:pPr rtl="0">
              <a:buNone/>
            </a:pPr>
            <a:r>
              <a:rPr lang="en-IN" dirty="0">
                <a:solidFill>
                  <a:schemeClr val="accent2">
                    <a:lumMod val="50000"/>
                  </a:schemeClr>
                </a:solidFill>
                <a:latin typeface="Comic Sans MS" panose="030F0702030302020204" pitchFamily="66" charset="0"/>
              </a:rPr>
              <a:t>Shortest Route  : A → C → E → F</a:t>
            </a:r>
          </a:p>
          <a:p>
            <a:pPr rtl="0">
              <a:buNone/>
            </a:pPr>
            <a:r>
              <a:rPr lang="en-IN" dirty="0">
                <a:solidFill>
                  <a:schemeClr val="accent2">
                    <a:lumMod val="50000"/>
                  </a:schemeClr>
                </a:solidFill>
                <a:latin typeface="Comic Sans MS" panose="030F0702030302020204" pitchFamily="66" charset="0"/>
              </a:rPr>
              <a:t>Total Distance  : 9 km</a:t>
            </a:r>
          </a:p>
          <a:p>
            <a:pPr rtl="0">
              <a:buNone/>
            </a:pPr>
            <a:r>
              <a:rPr lang="en-IN" dirty="0">
                <a:solidFill>
                  <a:schemeClr val="accent2">
                    <a:lumMod val="50000"/>
                  </a:schemeClr>
                </a:solidFill>
                <a:latin typeface="Comic Sans MS" panose="030F0702030302020204" pitchFamily="66" charset="0"/>
              </a:rPr>
              <a:t>Algorithm Used : Dijkstra's Algorith</a:t>
            </a:r>
            <a:r>
              <a:rPr lang="en-IN" dirty="0">
                <a:solidFill>
                  <a:schemeClr val="accent2">
                    <a:lumMod val="50000"/>
                  </a:schemeClr>
                </a:solidFill>
                <a:latin typeface="Californian FB" panose="0207040306080B030204" pitchFamily="18" charset="0"/>
              </a:rPr>
              <a:t>m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7F5378A-7581-33B8-5396-B4C2668082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6871" y="2146041"/>
            <a:ext cx="4493175" cy="2995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0922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654372" y="262038"/>
            <a:ext cx="6419945" cy="60395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3547840" y="302403"/>
            <a:ext cx="68718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kern="0" dirty="0">
                <a:solidFill>
                  <a:schemeClr val="bg1"/>
                </a:solidFill>
                <a:effectLst/>
                <a:ea typeface="Times New Roman" panose="02020603050405020304" pitchFamily="18" charset="0"/>
              </a:rPr>
              <a:t>Hardware and Software requirements</a:t>
            </a:r>
            <a:endParaRPr lang="en-US" sz="2800" b="1" dirty="0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B0E574F-7508-A42D-FB80-216A0B3DCDE9}"/>
              </a:ext>
            </a:extLst>
          </p:cNvPr>
          <p:cNvSpPr txBox="1"/>
          <p:nvPr/>
        </p:nvSpPr>
        <p:spPr>
          <a:xfrm>
            <a:off x="2385059" y="2197914"/>
            <a:ext cx="471551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latin typeface="Arial Rounded MT Bold" panose="020F0704030504030204" pitchFamily="34" charset="0"/>
              </a:rPr>
              <a:t>Hardware Requirements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17AD2CC-2BAC-FBC2-1654-4631D6A96315}"/>
              </a:ext>
            </a:extLst>
          </p:cNvPr>
          <p:cNvSpPr txBox="1"/>
          <p:nvPr/>
        </p:nvSpPr>
        <p:spPr>
          <a:xfrm>
            <a:off x="7656249" y="1095780"/>
            <a:ext cx="42360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dirty="0">
                <a:latin typeface="Arial Rounded MT Bold" panose="020F0704030504030204" pitchFamily="34" charset="0"/>
              </a:rPr>
              <a:t>Software</a:t>
            </a:r>
            <a:r>
              <a:rPr lang="en-IN" dirty="0">
                <a:latin typeface="Arial Rounded MT Bold" panose="020F0704030504030204" pitchFamily="34" charset="0"/>
              </a:rPr>
              <a:t> </a:t>
            </a:r>
            <a:r>
              <a:rPr lang="en-IN" sz="2800" dirty="0">
                <a:latin typeface="Arial Rounded MT Bold" panose="020F0704030504030204" pitchFamily="34" charset="0"/>
              </a:rPr>
              <a:t>Requirements</a:t>
            </a: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6BADCB32-243B-08B2-C1B9-7A75AFFC2B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587783"/>
              </p:ext>
            </p:extLst>
          </p:nvPr>
        </p:nvGraphicFramePr>
        <p:xfrm>
          <a:off x="7320914" y="1619000"/>
          <a:ext cx="4715510" cy="50358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57755">
                  <a:extLst>
                    <a:ext uri="{9D8B030D-6E8A-4147-A177-3AD203B41FA5}">
                      <a16:colId xmlns:a16="http://schemas.microsoft.com/office/drawing/2014/main" val="705068261"/>
                    </a:ext>
                  </a:extLst>
                </a:gridCol>
                <a:gridCol w="2357755">
                  <a:extLst>
                    <a:ext uri="{9D8B030D-6E8A-4147-A177-3AD203B41FA5}">
                      <a16:colId xmlns:a16="http://schemas.microsoft.com/office/drawing/2014/main" val="3665712156"/>
                    </a:ext>
                  </a:extLst>
                </a:gridCol>
              </a:tblGrid>
              <a:tr h="5552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rgbClr val="2F0000"/>
                          </a:solidFill>
                        </a:rPr>
                        <a:t>Software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rgbClr val="2F0000"/>
                          </a:solidFill>
                        </a:rPr>
                        <a:t>Purpose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28107139"/>
                  </a:ext>
                </a:extLst>
              </a:tr>
              <a:tr h="6156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rgbClr val="2F0000"/>
                          </a:solidFill>
                        </a:rPr>
                        <a:t>Windows / Linux / macOS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rgbClr val="2F0000"/>
                          </a:solidFill>
                        </a:rPr>
                        <a:t>Operating system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42155401"/>
                  </a:ext>
                </a:extLst>
              </a:tr>
              <a:tr h="6156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rgbClr val="2F0000"/>
                          </a:solidFill>
                        </a:rPr>
                        <a:t>Java JDK 17+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rgbClr val="2F0000"/>
                          </a:solidFill>
                        </a:rPr>
                        <a:t>Development and execution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06900607"/>
                  </a:ext>
                </a:extLst>
              </a:tr>
              <a:tr h="6156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rgbClr val="2F0000"/>
                          </a:solidFill>
                        </a:rPr>
                        <a:t>VS Code / IntelliJ IDEA / Eclipse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rgbClr val="2F0000"/>
                          </a:solidFill>
                        </a:rPr>
                        <a:t>Java programming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2040169"/>
                  </a:ext>
                </a:extLst>
              </a:tr>
              <a:tr h="6156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rgbClr val="2F0000"/>
                          </a:solidFill>
                        </a:rPr>
                        <a:t>Java Collections Framework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rgbClr val="2F0000"/>
                          </a:solidFill>
                        </a:rPr>
                        <a:t>Graph, Array List &amp; Priority Queue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05867680"/>
                  </a:ext>
                </a:extLst>
              </a:tr>
              <a:tr h="6156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rgbClr val="2F0000"/>
                          </a:solidFill>
                        </a:rPr>
                        <a:t>Web Browser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rgbClr val="2F0000"/>
                          </a:solidFill>
                        </a:rPr>
                        <a:t>Viewing maps/visualization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60147387"/>
                  </a:ext>
                </a:extLst>
              </a:tr>
              <a:tr h="6156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rgbClr val="2F0000"/>
                          </a:solidFill>
                        </a:rPr>
                        <a:t>Google Maps / Map API (optional)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rgbClr val="2F0000"/>
                          </a:solidFill>
                        </a:rPr>
                        <a:t>Real-world map integration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08023377"/>
                  </a:ext>
                </a:extLst>
              </a:tr>
              <a:tr h="6156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rgbClr val="2F0000"/>
                          </a:solidFill>
                        </a:rPr>
                        <a:t>Git &amp; GitHub (optional)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rgbClr val="2F0000"/>
                          </a:solidFill>
                        </a:rPr>
                        <a:t>Version control and project hosting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39449450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906F1557-1DB2-3440-EAD2-2FFFB55390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3649096"/>
              </p:ext>
            </p:extLst>
          </p:nvPr>
        </p:nvGraphicFramePr>
        <p:xfrm>
          <a:off x="1681480" y="2721134"/>
          <a:ext cx="5562600" cy="380158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81300">
                  <a:extLst>
                    <a:ext uri="{9D8B030D-6E8A-4147-A177-3AD203B41FA5}">
                      <a16:colId xmlns:a16="http://schemas.microsoft.com/office/drawing/2014/main" val="1739088225"/>
                    </a:ext>
                  </a:extLst>
                </a:gridCol>
                <a:gridCol w="2781300">
                  <a:extLst>
                    <a:ext uri="{9D8B030D-6E8A-4147-A177-3AD203B41FA5}">
                      <a16:colId xmlns:a16="http://schemas.microsoft.com/office/drawing/2014/main" val="3486478630"/>
                    </a:ext>
                  </a:extLst>
                </a:gridCol>
              </a:tblGrid>
              <a:tr h="7840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Component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Minimum Requirement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228722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Processor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Intel Core i3 / AMD Ryzen 3 or above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261395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RAM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4 GB minimum, 8 GB recommended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638221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Storage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500 MB free space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146132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Display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1366 × 768 or higher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030743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Keyboard &amp; Mouse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Standard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409077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Internet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Required if using online map services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40214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927509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87903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Conclusion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E3CB8E7-CD47-63D5-C2AE-6FC32DC419E1}"/>
              </a:ext>
            </a:extLst>
          </p:cNvPr>
          <p:cNvSpPr txBox="1"/>
          <p:nvPr/>
        </p:nvSpPr>
        <p:spPr>
          <a:xfrm>
            <a:off x="3048000" y="1443841"/>
            <a:ext cx="8768080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dirty="0">
                <a:latin typeface="Book Antiqua" panose="02040602050305030304" pitchFamily="18" charset="0"/>
              </a:rPr>
              <a:t>The </a:t>
            </a:r>
            <a:r>
              <a:rPr lang="en-IN" sz="2400" b="1" dirty="0">
                <a:latin typeface="Book Antiqua" panose="02040602050305030304" pitchFamily="18" charset="0"/>
              </a:rPr>
              <a:t>Google Maps Route Visualizer</a:t>
            </a:r>
            <a:r>
              <a:rPr lang="en-IN" sz="2400" dirty="0">
                <a:latin typeface="Book Antiqua" panose="02040602050305030304" pitchFamily="18" charset="0"/>
              </a:rPr>
              <a:t> successfully demonstrates the practical application of </a:t>
            </a:r>
            <a:r>
              <a:rPr lang="en-IN" sz="2400" b="1" dirty="0">
                <a:latin typeface="Book Antiqua" panose="02040602050305030304" pitchFamily="18" charset="0"/>
              </a:rPr>
              <a:t>Data Structures and Algorithms</a:t>
            </a:r>
            <a:r>
              <a:rPr lang="en-IN" sz="2400" dirty="0">
                <a:latin typeface="Book Antiqua" panose="02040602050305030304" pitchFamily="18" charset="0"/>
              </a:rPr>
              <a:t> in real-world route planning. By representing locations and roads as a </a:t>
            </a:r>
            <a:r>
              <a:rPr lang="en-IN" sz="2400" b="1" dirty="0">
                <a:latin typeface="Book Antiqua" panose="02040602050305030304" pitchFamily="18" charset="0"/>
              </a:rPr>
              <a:t>weighted graph</a:t>
            </a:r>
            <a:r>
              <a:rPr lang="en-IN" sz="2400" dirty="0">
                <a:latin typeface="Book Antiqua" panose="02040602050305030304" pitchFamily="18" charset="0"/>
              </a:rPr>
              <a:t> and applying </a:t>
            </a:r>
            <a:r>
              <a:rPr lang="en-IN" sz="2400" b="1" dirty="0">
                <a:latin typeface="Book Antiqua" panose="02040602050305030304" pitchFamily="18" charset="0"/>
              </a:rPr>
              <a:t>Dijkstra’s Algorithm</a:t>
            </a:r>
            <a:r>
              <a:rPr lang="en-IN" sz="2400" dirty="0">
                <a:latin typeface="Book Antiqua" panose="02040602050305030304" pitchFamily="18" charset="0"/>
              </a:rPr>
              <a:t>, the system can identify the shortest and most efficient route between two locations. The use of </a:t>
            </a:r>
            <a:r>
              <a:rPr lang="en-IN" sz="2400" b="1" dirty="0">
                <a:latin typeface="Book Antiqua" panose="02040602050305030304" pitchFamily="18" charset="0"/>
              </a:rPr>
              <a:t>adjacency lists, priority queues, and path reconstruction</a:t>
            </a:r>
            <a:r>
              <a:rPr lang="en-IN" sz="2400" dirty="0">
                <a:latin typeface="Book Antiqua" panose="02040602050305030304" pitchFamily="18" charset="0"/>
              </a:rPr>
              <a:t> makes the solution efficient and easy to understand. The project also provides a strong foundation for future enhancements such as </a:t>
            </a:r>
            <a:r>
              <a:rPr lang="en-IN" sz="2400" b="1" dirty="0">
                <a:latin typeface="Book Antiqua" panose="02040602050305030304" pitchFamily="18" charset="0"/>
              </a:rPr>
              <a:t>A* search, GPS integration, real-time traffic updates, and AI-based route recommendations</a:t>
            </a:r>
            <a:r>
              <a:rPr lang="en-IN" sz="2400" dirty="0">
                <a:latin typeface="Book Antiqua" panose="02040602050305030304" pitchFamily="18" charset="0"/>
              </a:rPr>
              <a:t>.</a:t>
            </a:r>
          </a:p>
          <a:p>
            <a:pPr>
              <a:buNone/>
            </a:pPr>
            <a:r>
              <a:rPr lang="en-IN" sz="2400" b="1" dirty="0">
                <a:latin typeface="Book Antiqua" panose="02040602050305030304" pitchFamily="18" charset="0"/>
              </a:rPr>
              <a:t>Overall, the project shows how graph algorithms can be effectively used to solve real-world navigation and optimization problems.</a:t>
            </a:r>
            <a:endParaRPr lang="en-IN" sz="2400" dirty="0">
              <a:latin typeface="Book Antiqua" panose="020406020503050303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2660072" y="154134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 Future Scope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F0C4227-EEA5-C4D0-0505-329D50D65159}"/>
              </a:ext>
            </a:extLst>
          </p:cNvPr>
          <p:cNvSpPr txBox="1"/>
          <p:nvPr/>
        </p:nvSpPr>
        <p:spPr>
          <a:xfrm>
            <a:off x="861527" y="4152122"/>
            <a:ext cx="5234472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5400" dirty="0">
                <a:latin typeface="Algerian" panose="04020705040A02060702" pitchFamily="82" charset="0"/>
              </a:rPr>
              <a:t>R</a:t>
            </a:r>
            <a:r>
              <a:rPr lang="en-IN" sz="2000" dirty="0"/>
              <a:t>eal-time traffic → A* optimization → GPS integration → Multiple routes → Dynamic road conditions → AI-based prediction → Voice navigation → Multi-modal transportation → Large-scale graph optimization → Personalized navigation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0A546FD-DD58-32D5-41E7-BF3D15AE7009}"/>
              </a:ext>
            </a:extLst>
          </p:cNvPr>
          <p:cNvSpPr txBox="1"/>
          <p:nvPr/>
        </p:nvSpPr>
        <p:spPr>
          <a:xfrm>
            <a:off x="2916108" y="1066825"/>
            <a:ext cx="8502074" cy="29238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🚀 </a:t>
            </a:r>
            <a:r>
              <a:rPr lang="en-IN" sz="4000" b="1" dirty="0">
                <a:latin typeface="Viner Hand ITC" panose="03070502030502020203" pitchFamily="66" charset="0"/>
              </a:rPr>
              <a:t>F</a:t>
            </a:r>
            <a:r>
              <a:rPr lang="en-IN" b="1" dirty="0">
                <a:latin typeface="Viner Hand ITC" panose="03070502030502020203" pitchFamily="66" charset="0"/>
              </a:rPr>
              <a:t>uture Scope</a:t>
            </a:r>
          </a:p>
          <a:p>
            <a:pPr>
              <a:buNone/>
            </a:pPr>
            <a:r>
              <a:rPr lang="en-IN" dirty="0">
                <a:latin typeface="Viner Hand ITC" panose="03070502030502020203" pitchFamily="66" charset="0"/>
              </a:rPr>
              <a:t>The project can be further developed into a </a:t>
            </a:r>
            <a:r>
              <a:rPr lang="en-IN" b="1" dirty="0">
                <a:latin typeface="Viner Hand ITC" panose="03070502030502020203" pitchFamily="66" charset="0"/>
              </a:rPr>
              <a:t>real-time and intelligent navigation system</a:t>
            </a:r>
            <a:r>
              <a:rPr lang="en-IN" dirty="0">
                <a:latin typeface="Viner Hand ITC" panose="03070502030502020203" pitchFamily="66" charset="0"/>
              </a:rPr>
              <a:t> by integrating live traffic data and GPS for accurate route updates. </a:t>
            </a:r>
            <a:r>
              <a:rPr lang="en-IN" b="1" dirty="0">
                <a:latin typeface="Viner Hand ITC" panose="03070502030502020203" pitchFamily="66" charset="0"/>
              </a:rPr>
              <a:t>A*</a:t>
            </a:r>
            <a:r>
              <a:rPr lang="en-IN" dirty="0">
                <a:latin typeface="Viner Hand ITC" panose="03070502030502020203" pitchFamily="66" charset="0"/>
              </a:rPr>
              <a:t> can be implemented for faster pathfinding, while interactive maps can visually display the selected route. Future versions can also provide </a:t>
            </a:r>
            <a:r>
              <a:rPr lang="en-IN" b="1" dirty="0">
                <a:latin typeface="Viner Hand ITC" panose="03070502030502020203" pitchFamily="66" charset="0"/>
              </a:rPr>
              <a:t>multiple route options</a:t>
            </a:r>
            <a:r>
              <a:rPr lang="en-IN" dirty="0">
                <a:latin typeface="Viner Hand ITC" panose="03070502030502020203" pitchFamily="66" charset="0"/>
              </a:rPr>
              <a:t>, support different transportation modes, and use </a:t>
            </a:r>
            <a:r>
              <a:rPr lang="en-IN" b="1" dirty="0">
                <a:latin typeface="Viner Hand ITC" panose="03070502030502020203" pitchFamily="66" charset="0"/>
              </a:rPr>
              <a:t>AI to predict traffic and recommend better routes</a:t>
            </a:r>
            <a:r>
              <a:rPr lang="en-IN" dirty="0">
                <a:latin typeface="Viner Hand ITC" panose="03070502030502020203" pitchFamily="66" charset="0"/>
              </a:rPr>
              <a:t>.</a:t>
            </a:r>
          </a:p>
          <a:p>
            <a:pPr>
              <a:buNone/>
            </a:pPr>
            <a:r>
              <a:rPr lang="en-IN" b="1" dirty="0">
                <a:latin typeface="Viner Hand ITC" panose="03070502030502020203" pitchFamily="66" charset="0"/>
              </a:rPr>
              <a:t>Overall, the system can evolve from a basic DSA-based shortest-path project into a smart, real-time navigation application.</a:t>
            </a:r>
            <a:endParaRPr lang="en-IN" dirty="0">
              <a:latin typeface="Viner Hand ITC" panose="03070502030502020203" pitchFamily="66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E402BF4-9370-1B73-793F-892A2B9D7C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0056" y="4016298"/>
            <a:ext cx="6071989" cy="262002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3736107" y="2619376"/>
            <a:ext cx="4946253" cy="135782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3135434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132</TotalTime>
  <Words>1017</Words>
  <Application>Microsoft Office PowerPoint</Application>
  <PresentationFormat>Widescreen</PresentationFormat>
  <Paragraphs>119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6" baseType="lpstr">
      <vt:lpstr> bodoni mt black</vt:lpstr>
      <vt:lpstr>Algerian</vt:lpstr>
      <vt:lpstr>Arial</vt:lpstr>
      <vt:lpstr>Arial Rounded MT Bold</vt:lpstr>
      <vt:lpstr>Bodoni MT</vt:lpstr>
      <vt:lpstr>Bodoni MT Black</vt:lpstr>
      <vt:lpstr>Book Antiqua</vt:lpstr>
      <vt:lpstr>Bradley Hand ITC</vt:lpstr>
      <vt:lpstr>Calibri</vt:lpstr>
      <vt:lpstr>Californian FB</vt:lpstr>
      <vt:lpstr>Comic Sans MS</vt:lpstr>
      <vt:lpstr>Times New Roman</vt:lpstr>
      <vt:lpstr>Viner Hand ITC</vt:lpstr>
      <vt:lpstr>Office Theme</vt:lpstr>
      <vt:lpstr>       Data Structures and Algorithms -3 (25CS2103E)  Title of the project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Sirisha Devi</dc:creator>
  <cp:lastModifiedBy>sai ram</cp:lastModifiedBy>
  <cp:revision>21</cp:revision>
  <dcterms:created xsi:type="dcterms:W3CDTF">2024-08-29T05:25:00Z</dcterms:created>
  <dcterms:modified xsi:type="dcterms:W3CDTF">2026-09-29T03:13:31Z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FB2A1F042FC047C6B4D7E0BF0C20B2E9_13</vt:lpwstr>
  </property>
  <property fmtid="{D5CDD505-2E9C-101B-9397-08002B2CF9AE}" pid="3" name="KSOProductBuildVer">
    <vt:lpwstr>1033-12.2.0.23131</vt:lpwstr>
  </property>
</Properties>
</file>